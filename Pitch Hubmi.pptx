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1"/>
  </p:notes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aser Arabic Bold" charset="1" panose="00000800000000000000"/>
      <p:regular r:id="rId14"/>
    </p:embeddedFont>
    <p:embeddedFont>
      <p:font typeface="Arimo" charset="1" panose="020B0604020202020204"/>
      <p:regular r:id="rId15"/>
    </p:embeddedFont>
    <p:embeddedFont>
      <p:font typeface="Montaser Arabic" charset="1" panose="00000500000000000000"/>
      <p:regular r:id="rId17"/>
    </p:embeddedFont>
    <p:embeddedFont>
      <p:font typeface="Arimo Bold" charset="1" panose="020B07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notesMasters/notesMaster1.xml" Type="http://schemas.openxmlformats.org/officeDocument/2006/relationships/notesMaster"/><Relationship Id="rId12" Target="theme/theme2.xml" Type="http://schemas.openxmlformats.org/officeDocument/2006/relationships/theme"/><Relationship Id="rId13" Target="notesSlides/notesSlide1.xml" Type="http://schemas.openxmlformats.org/officeDocument/2006/relationships/notes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Slides/notesSlide2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JSON Derulo · Szczecin</a:t>
            </a:r>
          </a:p>
          <a:p>
            <a:r>
              <a:rPr lang="en-US"/>
              <a:t/>
            </a:r>
          </a:p>
          <a:p>
            <a:r>
              <a:rPr lang="en-US"/>
              <a:t>24h · działająca platforma</a:t>
            </a:r>
          </a:p>
          <a:p>
            <a:r>
              <a:rPr lang="en-US"/>
              <a:t/>
            </a:r>
          </a:p>
          <a:p>
            <a:r>
              <a:rPr lang="en-US"/>
              <a:t>ROPS Kraków</a:t>
            </a:r>
          </a:p>
          <a:p>
            <a:r>
              <a:rPr lang="en-US"/>
              <a:t>Hubmi · hubmi-innovations.org</a:t>
            </a:r>
          </a:p>
          <a:p>
            <a:r>
              <a:rPr lang="en-US"/>
              <a:t>Problemy mieszkańców ↔ </a:t>
            </a:r>
          </a:p>
          <a:p>
            <a:r>
              <a:rPr lang="en-US"/>
              <a:t/>
            </a:r>
          </a:p>
          <a:p>
            <a:r>
              <a:rPr lang="en-US"/>
              <a:t>sprawdzone innowacje Małopolski</a:t>
            </a:r>
          </a:p>
          <a:p>
            <a:r>
              <a:rPr lang="en-US"/>
              <a:t/>
            </a:r>
          </a:p>
          <a:p>
            <a:r>
              <a:rPr lang="en-US"/>
              <a:t>Zero formularzy · zero logowania</a:t>
            </a:r>
          </a:p>
          <a:p>
            <a:r>
              <a:rPr lang="en-US"/>
              <a:t/>
            </a:r>
          </a:p>
          <a:p>
            <a:r>
              <a:rPr lang="en-US"/>
              <a:t>→ Dlaczego to potrzebne?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Hak</a:t>
            </a:r>
          </a:p>
          <a:p>
            <a:r>
              <a:rPr lang="en-US"/>
              <a:t/>
            </a:r>
          </a:p>
          <a:p>
            <a:r>
              <a:rPr lang="en-US"/>
              <a:t>Mamy blisko 200 przetestowanych innowacji.</a:t>
            </a:r>
          </a:p>
          <a:p>
            <a:r>
              <a:rPr lang="en-US"/>
              <a:t/>
            </a:r>
          </a:p>
          <a:p>
            <a:r>
              <a:rPr lang="en-US"/>
              <a:t>2300 osób w kryzysie bezdomności, </a:t>
            </a:r>
          </a:p>
          <a:p>
            <a:r>
              <a:rPr lang="en-US"/>
              <a:t/>
            </a:r>
          </a:p>
          <a:p>
            <a:r>
              <a:rPr lang="en-US"/>
              <a:t>200 tys. potrzebujących seniorów w Krakowie.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Wiedza w rozproszonych PDF-ach</a:t>
            </a:r>
          </a:p>
          <a:p>
            <a:r>
              <a:rPr lang="en-US"/>
              <a:t>Raporty na biurkach</a:t>
            </a:r>
          </a:p>
          <a:p>
            <a:r>
              <a:rPr lang="en-US"/>
              <a:t/>
            </a:r>
          </a:p>
          <a:p>
            <a:r>
              <a:rPr lang="en-US"/>
              <a:t>Portale = skomplikowane tabele</a:t>
            </a:r>
          </a:p>
          <a:p>
            <a:r>
              <a:rPr lang="en-US"/>
              <a:t/>
            </a:r>
          </a:p>
          <a:p>
            <a:r>
              <a:rPr lang="en-US"/>
              <a:t>→ Przestarzałe, nieczytelne</a:t>
            </a:r>
          </a:p>
          <a:p>
            <a:r>
              <a:rPr lang="en-US"/>
              <a:t>→ Czas na radykalną zmianę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Hubmi = koniec wyszukiwarek i formularzy</a:t>
            </a:r>
          </a:p>
          <a:p>
            <a:r>
              <a:rPr lang="en-US"/>
              <a:t/>
            </a:r>
          </a:p>
          <a:p>
            <a:r>
              <a:rPr lang="en-US"/>
              <a:t>✕ Formularze</a:t>
            </a:r>
          </a:p>
          <a:p>
            <a:r>
              <a:rPr lang="en-US"/>
              <a:t>✕ Wyszukiwarki</a:t>
            </a:r>
          </a:p>
          <a:p>
            <a:r>
              <a:rPr lang="en-US"/>
              <a:t>✕ Tabele i PDF-y</a:t>
            </a:r>
          </a:p>
          <a:p>
            <a:r>
              <a:rPr lang="en-US"/>
              <a:t>✓ Jedna rozmowa z AI</a:t>
            </a:r>
          </a:p>
          <a:p>
            <a:r>
              <a:rPr lang="en-US"/>
              <a:t/>
            </a:r>
          </a:p>
          <a:p>
            <a:r>
              <a:rPr lang="en-US"/>
              <a:t>Nie szukasz → rozmawiasz</a:t>
            </a:r>
          </a:p>
          <a:p>
            <a:r>
              <a:rPr lang="en-US"/>
              <a:t/>
            </a:r>
          </a:p>
          <a:p>
            <a:r>
              <a:rPr lang="en-US"/>
              <a:t>→ Jak to działa? 3 kroki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Jak to działa? 3 kroki 🚀</a:t>
            </a:r>
          </a:p>
          <a:p>
            <a:r>
              <a:rPr lang="en-US"/>
              <a:t/>
            </a:r>
          </a:p>
          <a:p>
            <a:r>
              <a:rPr lang="en-US"/>
              <a:t>OPISZ: własne słowa · AI dopytuje</a:t>
            </a:r>
          </a:p>
          <a:p>
            <a:r>
              <a:rPr lang="en-US"/>
              <a:t/>
            </a:r>
          </a:p>
          <a:p>
            <a:r>
              <a:rPr lang="en-US"/>
              <a:t>DOPASUJ: RAG · 115 innowacji · ułamek sekundy</a:t>
            </a:r>
          </a:p>
          <a:p>
            <a:r>
              <a:rPr lang="en-US"/>
              <a:t/>
            </a:r>
          </a:p>
          <a:p>
            <a:r>
              <a:rPr lang="en-US"/>
              <a:t>Brak rozwiązania? → Kreator pomysłów</a:t>
            </a:r>
          </a:p>
          <a:p>
            <a:r>
              <a:rPr lang="en-US"/>
              <a:t/>
            </a:r>
          </a:p>
          <a:p>
            <a:r>
              <a:rPr lang="en-US"/>
              <a:t>WDRÓŻ: plan pilotażu · zasoby gminy</a:t>
            </a:r>
          </a:p>
          <a:p>
            <a:r>
              <a:rPr lang="en-US"/>
              <a:t/>
            </a:r>
          </a:p>
          <a:p>
            <a:r>
              <a:rPr lang="en-US"/>
              <a:t>🎬 DEMO: przełącz na hubmi-innovations.org i pokaż produkt na żywo (albo puść film z demo)</a:t>
            </a:r>
          </a:p>
          <a:p>
            <a:r>
              <a:rPr lang="en-US"/>
              <a:t/>
            </a:r>
          </a:p>
          <a:p>
            <a:r>
              <a:rPr lang="en-US"/>
              <a:t>→ A rozproszone dane z początku?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png" Type="http://schemas.openxmlformats.org/officeDocument/2006/relationships/image"/><Relationship Id="rId12" Target="../media/image1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1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12" Target="../media/image29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76500" y="1428750"/>
            <a:ext cx="13335000" cy="2238375"/>
            <a:chOff x="0" y="0"/>
            <a:chExt cx="17780000" cy="2984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780000" cy="2984500"/>
            </a:xfrm>
            <a:custGeom>
              <a:avLst/>
              <a:gdLst/>
              <a:ahLst/>
              <a:cxnLst/>
              <a:rect r="r" b="b" t="t" l="l"/>
              <a:pathLst>
                <a:path h="2984500" w="17780000">
                  <a:moveTo>
                    <a:pt x="0" y="0"/>
                  </a:moveTo>
                  <a:lnTo>
                    <a:pt x="17780000" y="0"/>
                  </a:lnTo>
                  <a:lnTo>
                    <a:pt x="17780000" y="2984500"/>
                  </a:lnTo>
                  <a:lnTo>
                    <a:pt x="0" y="29845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780000" cy="302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71500" y="3619500"/>
            <a:ext cx="17145000" cy="3619500"/>
            <a:chOff x="0" y="0"/>
            <a:chExt cx="22860000" cy="482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00" cy="4826000"/>
            </a:xfrm>
            <a:custGeom>
              <a:avLst/>
              <a:gdLst/>
              <a:ahLst/>
              <a:cxnLst/>
              <a:rect r="r" b="b" t="t" l="l"/>
              <a:pathLst>
                <a:path h="4826000" w="22860000">
                  <a:moveTo>
                    <a:pt x="0" y="0"/>
                  </a:moveTo>
                  <a:lnTo>
                    <a:pt x="22860000" y="0"/>
                  </a:lnTo>
                  <a:lnTo>
                    <a:pt x="22860000" y="4826000"/>
                  </a:lnTo>
                  <a:lnTo>
                    <a:pt x="0" y="4826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60000" cy="486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07818" y="207708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537952" y="0"/>
            <a:ext cx="1750048" cy="2361309"/>
          </a:xfrm>
          <a:custGeom>
            <a:avLst/>
            <a:gdLst/>
            <a:ahLst/>
            <a:cxnLst/>
            <a:rect r="r" b="b" t="t" l="l"/>
            <a:pathLst>
              <a:path h="2361309" w="1750048">
                <a:moveTo>
                  <a:pt x="0" y="0"/>
                </a:moveTo>
                <a:lnTo>
                  <a:pt x="1750048" y="0"/>
                </a:lnTo>
                <a:lnTo>
                  <a:pt x="175004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756708" y="2776725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11265" y="5086350"/>
            <a:ext cx="5665780" cy="448211"/>
          </a:xfrm>
          <a:custGeom>
            <a:avLst/>
            <a:gdLst/>
            <a:ahLst/>
            <a:cxnLst/>
            <a:rect r="r" b="b" t="t" l="l"/>
            <a:pathLst>
              <a:path h="448211" w="5665780">
                <a:moveTo>
                  <a:pt x="0" y="0"/>
                </a:moveTo>
                <a:lnTo>
                  <a:pt x="5665780" y="0"/>
                </a:lnTo>
                <a:lnTo>
                  <a:pt x="566578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0" y="7062064"/>
            <a:ext cx="3707914" cy="3224936"/>
          </a:xfrm>
          <a:custGeom>
            <a:avLst/>
            <a:gdLst/>
            <a:ahLst/>
            <a:cxnLst/>
            <a:rect r="r" b="b" t="t" l="l"/>
            <a:pathLst>
              <a:path h="3224936" w="3707914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455110" y="7062064"/>
            <a:ext cx="2832890" cy="3224936"/>
          </a:xfrm>
          <a:custGeom>
            <a:avLst/>
            <a:gdLst/>
            <a:ahLst/>
            <a:cxnLst/>
            <a:rect r="r" b="b" t="t" l="l"/>
            <a:pathLst>
              <a:path h="3224936" w="2832890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47069" y="6414194"/>
            <a:ext cx="3086100" cy="2941439"/>
            <a:chOff x="0" y="0"/>
            <a:chExt cx="812800" cy="7747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774700"/>
            </a:xfrm>
            <a:custGeom>
              <a:avLst/>
              <a:gdLst/>
              <a:ahLst/>
              <a:cxnLst/>
              <a:rect r="r" b="b" t="t" l="l"/>
              <a:pathLst>
                <a:path h="774700" w="812800">
                  <a:moveTo>
                    <a:pt x="406400" y="0"/>
                  </a:moveTo>
                  <a:lnTo>
                    <a:pt x="502338" y="295909"/>
                  </a:lnTo>
                  <a:lnTo>
                    <a:pt x="812800" y="295909"/>
                  </a:lnTo>
                  <a:lnTo>
                    <a:pt x="561631" y="478791"/>
                  </a:lnTo>
                  <a:lnTo>
                    <a:pt x="657569" y="774700"/>
                  </a:lnTo>
                  <a:lnTo>
                    <a:pt x="406400" y="591819"/>
                  </a:lnTo>
                  <a:lnTo>
                    <a:pt x="155231" y="774700"/>
                  </a:lnTo>
                  <a:lnTo>
                    <a:pt x="251169" y="478791"/>
                  </a:lnTo>
                  <a:lnTo>
                    <a:pt x="0" y="295909"/>
                  </a:lnTo>
                  <a:lnTo>
                    <a:pt x="310462" y="29590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F1EA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228600" y="171450"/>
              <a:ext cx="355600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69010" y="391912"/>
            <a:ext cx="3086100" cy="308610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8F1EAE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7000" y="31750"/>
              <a:ext cx="558800" cy="654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72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143250" y="3829050"/>
            <a:ext cx="12003900" cy="11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89"/>
              </a:lnSpc>
            </a:pPr>
            <a:r>
              <a:rPr lang="en-US" b="true" sz="8266" spc="-246">
                <a:solidFill>
                  <a:srgbClr val="15122E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hubmi-innovations.org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7750" y="5838825"/>
            <a:ext cx="16192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75"/>
              </a:lnSpc>
              <a:spcBef>
                <a:spcPct val="0"/>
              </a:spcBef>
            </a:pPr>
            <a:r>
              <a:rPr lang="en-US" sz="3750" strike="noStrike" u="none">
                <a:solidFill>
                  <a:srgbClr val="15122E"/>
                </a:solidFill>
                <a:latin typeface="Arimo"/>
                <a:ea typeface="Arimo"/>
                <a:cs typeface="Arimo"/>
                <a:sym typeface="Arimo"/>
              </a:rPr>
              <a:t>Najbardziej innowacyjne rozwiązania społeczne Małopolski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818" y="207708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952" y="0"/>
            <a:ext cx="1750048" cy="2361309"/>
          </a:xfrm>
          <a:custGeom>
            <a:avLst/>
            <a:gdLst/>
            <a:ahLst/>
            <a:cxnLst/>
            <a:rect r="r" b="b" t="t" l="l"/>
            <a:pathLst>
              <a:path h="2361309" w="1750048">
                <a:moveTo>
                  <a:pt x="0" y="0"/>
                </a:moveTo>
                <a:lnTo>
                  <a:pt x="1750048" y="0"/>
                </a:lnTo>
                <a:lnTo>
                  <a:pt x="175004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56708" y="2776725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062064"/>
            <a:ext cx="3707914" cy="3224936"/>
          </a:xfrm>
          <a:custGeom>
            <a:avLst/>
            <a:gdLst/>
            <a:ahLst/>
            <a:cxnLst/>
            <a:rect r="r" b="b" t="t" l="l"/>
            <a:pathLst>
              <a:path h="3224936" w="3707914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5110" y="7062064"/>
            <a:ext cx="2832890" cy="3224936"/>
          </a:xfrm>
          <a:custGeom>
            <a:avLst/>
            <a:gdLst/>
            <a:ahLst/>
            <a:cxnLst/>
            <a:rect r="r" b="b" t="t" l="l"/>
            <a:pathLst>
              <a:path h="3224936" w="2832890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55663" y="770836"/>
            <a:ext cx="9111283" cy="192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3"/>
              </a:lnSpc>
            </a:pPr>
            <a:r>
              <a:rPr lang="en-US" b="true" sz="6426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Rozwiązania istnieją.</a:t>
            </a:r>
          </a:p>
          <a:p>
            <a:pPr algn="ctr">
              <a:lnSpc>
                <a:spcPts val="7713"/>
              </a:lnSpc>
            </a:pPr>
            <a:r>
              <a:rPr lang="en-US" b="true" sz="6426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Nie docierają do ludzi.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866" y="2776725"/>
            <a:ext cx="5009512" cy="448211"/>
          </a:xfrm>
          <a:custGeom>
            <a:avLst/>
            <a:gdLst/>
            <a:ahLst/>
            <a:cxnLst/>
            <a:rect r="r" b="b" t="t" l="l"/>
            <a:pathLst>
              <a:path h="448211" w="5009512">
                <a:moveTo>
                  <a:pt x="0" y="0"/>
                </a:moveTo>
                <a:lnTo>
                  <a:pt x="5009512" y="0"/>
                </a:lnTo>
                <a:lnTo>
                  <a:pt x="5009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20354" y="3848060"/>
            <a:ext cx="4145426" cy="4088563"/>
            <a:chOff x="0" y="0"/>
            <a:chExt cx="5527234" cy="54514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527234" cy="5451418"/>
            </a:xfrm>
            <a:custGeom>
              <a:avLst/>
              <a:gdLst/>
              <a:ahLst/>
              <a:cxnLst/>
              <a:rect r="r" b="b" t="t" l="l"/>
              <a:pathLst>
                <a:path h="5451418" w="5527234">
                  <a:moveTo>
                    <a:pt x="0" y="0"/>
                  </a:moveTo>
                  <a:lnTo>
                    <a:pt x="5527234" y="0"/>
                  </a:lnTo>
                  <a:lnTo>
                    <a:pt x="5527234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527234" cy="1734542"/>
            </a:xfrm>
            <a:custGeom>
              <a:avLst/>
              <a:gdLst/>
              <a:ahLst/>
              <a:cxnLst/>
              <a:rect r="r" b="b" t="t" l="l"/>
              <a:pathLst>
                <a:path h="1734542" w="5527234">
                  <a:moveTo>
                    <a:pt x="0" y="0"/>
                  </a:moveTo>
                  <a:lnTo>
                    <a:pt x="5527234" y="0"/>
                  </a:lnTo>
                  <a:lnTo>
                    <a:pt x="5527234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113949" y="294800"/>
              <a:ext cx="3116142" cy="1094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2"/>
                </a:lnSpc>
              </a:pPr>
              <a:r>
                <a:rPr lang="en-US" b="true" sz="5484" spc="-109">
                  <a:solidFill>
                    <a:srgbClr val="F8F8F8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~2 300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969191" y="5707037"/>
            <a:ext cx="3247752" cy="79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osób w kryzysie</a:t>
            </a:r>
          </a:p>
          <a:p>
            <a:pPr algn="ctr">
              <a:lnSpc>
                <a:spcPts val="3272"/>
              </a:lnSpc>
            </a:pPr>
            <a:r>
              <a:rPr lang="en-US" sz="1924" spc="-38">
                <a:solidFill>
                  <a:srgbClr val="191630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bezdomności w Krakowie,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56440" y="3848060"/>
            <a:ext cx="4375120" cy="4088563"/>
            <a:chOff x="0" y="0"/>
            <a:chExt cx="5833493" cy="545141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33493" cy="5451418"/>
            </a:xfrm>
            <a:custGeom>
              <a:avLst/>
              <a:gdLst/>
              <a:ahLst/>
              <a:cxnLst/>
              <a:rect r="r" b="b" t="t" l="l"/>
              <a:pathLst>
                <a:path h="5451418" w="5833493">
                  <a:moveTo>
                    <a:pt x="0" y="0"/>
                  </a:moveTo>
                  <a:lnTo>
                    <a:pt x="5833493" y="0"/>
                  </a:lnTo>
                  <a:lnTo>
                    <a:pt x="5833493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833493" cy="1734542"/>
            </a:xfrm>
            <a:custGeom>
              <a:avLst/>
              <a:gdLst/>
              <a:ahLst/>
              <a:cxnLst/>
              <a:rect r="r" b="b" t="t" l="l"/>
              <a:pathLst>
                <a:path h="1734542" w="5833493">
                  <a:moveTo>
                    <a:pt x="0" y="0"/>
                  </a:moveTo>
                  <a:lnTo>
                    <a:pt x="5833493" y="0"/>
                  </a:lnTo>
                  <a:lnTo>
                    <a:pt x="5833493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775007" y="294800"/>
              <a:ext cx="4181798" cy="1094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2"/>
                </a:lnSpc>
              </a:pPr>
              <a:r>
                <a:rPr lang="en-US" b="true" sz="5484" spc="-109">
                  <a:solidFill>
                    <a:srgbClr val="F8F8F8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~200 tys.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08781" y="2510387"/>
              <a:ext cx="3714251" cy="1027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2"/>
                </a:lnSpc>
              </a:pPr>
              <a:r>
                <a:rPr lang="en-US" sz="1924" spc="-38">
                  <a:solidFill>
                    <a:srgbClr val="19163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Krakowian w wieku emerytalnym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22220" y="3848060"/>
            <a:ext cx="4145426" cy="4088563"/>
            <a:chOff x="0" y="0"/>
            <a:chExt cx="5527234" cy="54514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527234" cy="5451418"/>
            </a:xfrm>
            <a:custGeom>
              <a:avLst/>
              <a:gdLst/>
              <a:ahLst/>
              <a:cxnLst/>
              <a:rect r="r" b="b" t="t" l="l"/>
              <a:pathLst>
                <a:path h="5451418" w="5527234">
                  <a:moveTo>
                    <a:pt x="0" y="0"/>
                  </a:moveTo>
                  <a:lnTo>
                    <a:pt x="5527234" y="0"/>
                  </a:lnTo>
                  <a:lnTo>
                    <a:pt x="5527234" y="5451418"/>
                  </a:lnTo>
                  <a:lnTo>
                    <a:pt x="0" y="5451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27234" cy="1734542"/>
            </a:xfrm>
            <a:custGeom>
              <a:avLst/>
              <a:gdLst/>
              <a:ahLst/>
              <a:cxnLst/>
              <a:rect r="r" b="b" t="t" l="l"/>
              <a:pathLst>
                <a:path h="1734542" w="5527234">
                  <a:moveTo>
                    <a:pt x="0" y="0"/>
                  </a:moveTo>
                  <a:lnTo>
                    <a:pt x="5527234" y="0"/>
                  </a:lnTo>
                  <a:lnTo>
                    <a:pt x="5527234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439237" y="294800"/>
              <a:ext cx="2323557" cy="1094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582"/>
                </a:lnSpc>
              </a:pPr>
              <a:r>
                <a:rPr lang="en-US" b="true" sz="5484" spc="-109">
                  <a:solidFill>
                    <a:srgbClr val="F8F8F8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~200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713300" y="2236689"/>
              <a:ext cx="4100635" cy="15744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72"/>
                </a:lnSpc>
              </a:pPr>
              <a:r>
                <a:rPr lang="en-US" sz="1924" spc="-38">
                  <a:solidFill>
                    <a:srgbClr val="19163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sprawdzonych innowacji</a:t>
              </a:r>
            </a:p>
            <a:p>
              <a:pPr algn="ctr">
                <a:lnSpc>
                  <a:spcPts val="3272"/>
                </a:lnSpc>
              </a:pPr>
              <a:r>
                <a:rPr lang="en-US" sz="1924" spc="-38">
                  <a:solidFill>
                    <a:srgbClr val="19163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ROPS rozproszonych</a:t>
              </a:r>
            </a:p>
            <a:p>
              <a:pPr algn="ctr">
                <a:lnSpc>
                  <a:spcPts val="3272"/>
                </a:lnSpc>
              </a:pPr>
              <a:r>
                <a:rPr lang="en-US" sz="1924" spc="-38">
                  <a:solidFill>
                    <a:srgbClr val="19163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po raportach.</a:t>
              </a:r>
            </a:p>
          </p:txBody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818" y="207708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7952" y="0"/>
            <a:ext cx="1750048" cy="2361309"/>
          </a:xfrm>
          <a:custGeom>
            <a:avLst/>
            <a:gdLst/>
            <a:ahLst/>
            <a:cxnLst/>
            <a:rect r="r" b="b" t="t" l="l"/>
            <a:pathLst>
              <a:path h="2361309" w="1750048">
                <a:moveTo>
                  <a:pt x="0" y="0"/>
                </a:moveTo>
                <a:lnTo>
                  <a:pt x="1750048" y="0"/>
                </a:lnTo>
                <a:lnTo>
                  <a:pt x="1750048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56708" y="2776725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062064"/>
            <a:ext cx="3707914" cy="3224936"/>
          </a:xfrm>
          <a:custGeom>
            <a:avLst/>
            <a:gdLst/>
            <a:ahLst/>
            <a:cxnLst/>
            <a:rect r="r" b="b" t="t" l="l"/>
            <a:pathLst>
              <a:path h="3224936" w="3707914">
                <a:moveTo>
                  <a:pt x="0" y="0"/>
                </a:moveTo>
                <a:lnTo>
                  <a:pt x="3707914" y="0"/>
                </a:lnTo>
                <a:lnTo>
                  <a:pt x="370791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5110" y="7062064"/>
            <a:ext cx="2832890" cy="3224936"/>
          </a:xfrm>
          <a:custGeom>
            <a:avLst/>
            <a:gdLst/>
            <a:ahLst/>
            <a:cxnLst/>
            <a:rect r="r" b="b" t="t" l="l"/>
            <a:pathLst>
              <a:path h="3224936" w="2832890">
                <a:moveTo>
                  <a:pt x="0" y="0"/>
                </a:moveTo>
                <a:lnTo>
                  <a:pt x="2832890" y="0"/>
                </a:lnTo>
                <a:lnTo>
                  <a:pt x="2832890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455663" y="770836"/>
            <a:ext cx="9111283" cy="1927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13"/>
              </a:lnSpc>
            </a:pPr>
            <a:r>
              <a:rPr lang="en-US" b="true" sz="6426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Rozwiązania istnieją.</a:t>
            </a:r>
          </a:p>
          <a:p>
            <a:pPr algn="ctr">
              <a:lnSpc>
                <a:spcPts val="7713"/>
              </a:lnSpc>
            </a:pPr>
            <a:r>
              <a:rPr lang="en-US" b="true" sz="6426" spc="-128">
                <a:solidFill>
                  <a:srgbClr val="19163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Nie docierają do ludzi.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866" y="2776725"/>
            <a:ext cx="5009512" cy="448211"/>
          </a:xfrm>
          <a:custGeom>
            <a:avLst/>
            <a:gdLst/>
            <a:ahLst/>
            <a:cxnLst/>
            <a:rect r="r" b="b" t="t" l="l"/>
            <a:pathLst>
              <a:path h="448211" w="5009512">
                <a:moveTo>
                  <a:pt x="0" y="0"/>
                </a:moveTo>
                <a:lnTo>
                  <a:pt x="5009512" y="0"/>
                </a:lnTo>
                <a:lnTo>
                  <a:pt x="5009512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7017" y="4772749"/>
            <a:ext cx="16428574" cy="1989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1"/>
              </a:lnSpc>
            </a:pPr>
            <a:r>
              <a:rPr lang="en-US" b="true" sz="6078" spc="-121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Problem nie leży w braku rozwiązań,</a:t>
            </a:r>
          </a:p>
          <a:p>
            <a:pPr algn="ctr">
              <a:lnSpc>
                <a:spcPts val="7901"/>
              </a:lnSpc>
            </a:pPr>
            <a:r>
              <a:rPr lang="en-US" b="true" sz="6078" spc="-121">
                <a:solidFill>
                  <a:srgbClr val="DE0F6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tylko w ich </a:t>
            </a:r>
            <a:r>
              <a:rPr lang="en-US" b="true" sz="6078" spc="-121">
                <a:solidFill>
                  <a:srgbClr val="14AB67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znalezieniu </a:t>
            </a:r>
            <a:r>
              <a:rPr lang="en-US" b="true" sz="6078" spc="-121">
                <a:solidFill>
                  <a:srgbClr val="17B26C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 wdrożeniu!</a:t>
            </a:r>
          </a:p>
        </p:txBody>
      </p:sp>
    </p:spTree>
  </p:cSld>
  <p:clrMapOvr>
    <a:masterClrMapping/>
  </p:clrMapOvr>
  <p:transition spd="fast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7645" y="207645"/>
            <a:ext cx="1542098" cy="1726883"/>
          </a:xfrm>
          <a:custGeom>
            <a:avLst/>
            <a:gdLst/>
            <a:ahLst/>
            <a:cxnLst/>
            <a:rect r="r" b="b" t="t" l="l"/>
            <a:pathLst>
              <a:path h="1726883" w="1542098">
                <a:moveTo>
                  <a:pt x="0" y="0"/>
                </a:moveTo>
                <a:lnTo>
                  <a:pt x="1542097" y="0"/>
                </a:lnTo>
                <a:lnTo>
                  <a:pt x="1542097" y="1726883"/>
                </a:lnTo>
                <a:lnTo>
                  <a:pt x="0" y="17268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" r="0" b="-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19182" y="207645"/>
            <a:ext cx="1968818" cy="2153602"/>
          </a:xfrm>
          <a:custGeom>
            <a:avLst/>
            <a:gdLst/>
            <a:ahLst/>
            <a:cxnLst/>
            <a:rect r="r" b="b" t="t" l="l"/>
            <a:pathLst>
              <a:path h="2153602" w="1968818">
                <a:moveTo>
                  <a:pt x="0" y="0"/>
                </a:moveTo>
                <a:lnTo>
                  <a:pt x="1968818" y="0"/>
                </a:lnTo>
                <a:lnTo>
                  <a:pt x="1968818" y="2153603"/>
                </a:lnTo>
                <a:lnTo>
                  <a:pt x="0" y="21536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" r="0" b="-26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56380" y="2776538"/>
            <a:ext cx="666750" cy="448627"/>
          </a:xfrm>
          <a:custGeom>
            <a:avLst/>
            <a:gdLst/>
            <a:ahLst/>
            <a:cxnLst/>
            <a:rect r="r" b="b" t="t" l="l"/>
            <a:pathLst>
              <a:path h="448627" w="666750">
                <a:moveTo>
                  <a:pt x="0" y="0"/>
                </a:moveTo>
                <a:lnTo>
                  <a:pt x="666750" y="0"/>
                </a:lnTo>
                <a:lnTo>
                  <a:pt x="666750" y="448627"/>
                </a:lnTo>
                <a:lnTo>
                  <a:pt x="0" y="448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" t="0" r="-54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061835"/>
            <a:ext cx="3489008" cy="3225165"/>
          </a:xfrm>
          <a:custGeom>
            <a:avLst/>
            <a:gdLst/>
            <a:ahLst/>
            <a:cxnLst/>
            <a:rect r="r" b="b" t="t" l="l"/>
            <a:pathLst>
              <a:path h="3225165" w="3489008">
                <a:moveTo>
                  <a:pt x="0" y="0"/>
                </a:moveTo>
                <a:lnTo>
                  <a:pt x="3489008" y="0"/>
                </a:lnTo>
                <a:lnTo>
                  <a:pt x="3489008" y="3225165"/>
                </a:lnTo>
                <a:lnTo>
                  <a:pt x="0" y="32251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0" r="0" b="-2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455265" y="7061835"/>
            <a:ext cx="2625090" cy="3225165"/>
          </a:xfrm>
          <a:custGeom>
            <a:avLst/>
            <a:gdLst/>
            <a:ahLst/>
            <a:cxnLst/>
            <a:rect r="r" b="b" t="t" l="l"/>
            <a:pathLst>
              <a:path h="3225165" w="2625090">
                <a:moveTo>
                  <a:pt x="0" y="0"/>
                </a:moveTo>
                <a:lnTo>
                  <a:pt x="2625090" y="0"/>
                </a:lnTo>
                <a:lnTo>
                  <a:pt x="2625090" y="3225165"/>
                </a:lnTo>
                <a:lnTo>
                  <a:pt x="0" y="3225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3" r="0" b="-23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30340" y="2762250"/>
            <a:ext cx="5009197" cy="437198"/>
          </a:xfrm>
          <a:custGeom>
            <a:avLst/>
            <a:gdLst/>
            <a:ahLst/>
            <a:cxnLst/>
            <a:rect r="r" b="b" t="t" l="l"/>
            <a:pathLst>
              <a:path h="437198" w="5009197">
                <a:moveTo>
                  <a:pt x="0" y="0"/>
                </a:moveTo>
                <a:lnTo>
                  <a:pt x="5009198" y="0"/>
                </a:lnTo>
                <a:lnTo>
                  <a:pt x="5009198" y="437198"/>
                </a:lnTo>
                <a:lnTo>
                  <a:pt x="0" y="4371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2" r="0" b="-3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2068" y="4712018"/>
            <a:ext cx="4145280" cy="3650933"/>
          </a:xfrm>
          <a:custGeom>
            <a:avLst/>
            <a:gdLst/>
            <a:ahLst/>
            <a:cxnLst/>
            <a:rect r="r" b="b" t="t" l="l"/>
            <a:pathLst>
              <a:path h="3650933" w="4145280">
                <a:moveTo>
                  <a:pt x="0" y="0"/>
                </a:moveTo>
                <a:lnTo>
                  <a:pt x="4145279" y="0"/>
                </a:lnTo>
                <a:lnTo>
                  <a:pt x="4145279" y="3650932"/>
                </a:lnTo>
                <a:lnTo>
                  <a:pt x="0" y="36509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9" r="0" b="-2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956107" y="4712018"/>
            <a:ext cx="4156710" cy="3650933"/>
          </a:xfrm>
          <a:custGeom>
            <a:avLst/>
            <a:gdLst/>
            <a:ahLst/>
            <a:cxnLst/>
            <a:rect r="r" b="b" t="t" l="l"/>
            <a:pathLst>
              <a:path h="3650933" w="4156710">
                <a:moveTo>
                  <a:pt x="0" y="0"/>
                </a:moveTo>
                <a:lnTo>
                  <a:pt x="4156710" y="0"/>
                </a:lnTo>
                <a:lnTo>
                  <a:pt x="4156710" y="3650932"/>
                </a:lnTo>
                <a:lnTo>
                  <a:pt x="0" y="36509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5" r="0" b="-35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622530" y="4712018"/>
            <a:ext cx="4145280" cy="3650933"/>
          </a:xfrm>
          <a:custGeom>
            <a:avLst/>
            <a:gdLst/>
            <a:ahLst/>
            <a:cxnLst/>
            <a:rect r="r" b="b" t="t" l="l"/>
            <a:pathLst>
              <a:path h="3650933" w="4145280">
                <a:moveTo>
                  <a:pt x="0" y="0"/>
                </a:moveTo>
                <a:lnTo>
                  <a:pt x="4145280" y="0"/>
                </a:lnTo>
                <a:lnTo>
                  <a:pt x="4145280" y="3650932"/>
                </a:lnTo>
                <a:lnTo>
                  <a:pt x="0" y="36509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9" r="0" b="-2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429000" y="1504950"/>
            <a:ext cx="11430000" cy="101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7200" b="true">
                <a:solidFill>
                  <a:srgbClr val="1A1936"/>
                </a:solidFill>
                <a:latin typeface="Arimo Bold"/>
                <a:ea typeface="Arimo Bold"/>
                <a:cs typeface="Arimo Bold"/>
                <a:sym typeface="Arimo Bold"/>
              </a:rPr>
              <a:t>Rezygnujemy z: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60208" y="5867400"/>
            <a:ext cx="3429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A1936"/>
                </a:solidFill>
                <a:latin typeface="Arimo Bold"/>
                <a:ea typeface="Arimo Bold"/>
                <a:cs typeface="Arimo Bold"/>
                <a:sym typeface="Arimo Bold"/>
              </a:rPr>
              <a:t>Formularzy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962" y="5867400"/>
            <a:ext cx="3429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A1936"/>
                </a:solidFill>
                <a:latin typeface="Arimo Bold"/>
                <a:ea typeface="Arimo Bold"/>
                <a:cs typeface="Arimo Bold"/>
                <a:sym typeface="Arimo Bold"/>
              </a:rPr>
              <a:t>Wyszukiwarek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0670" y="5867400"/>
            <a:ext cx="3429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3750" b="true">
                <a:solidFill>
                  <a:srgbClr val="1A1936"/>
                </a:solidFill>
                <a:latin typeface="Arimo Bold"/>
                <a:ea typeface="Arimo Bold"/>
                <a:cs typeface="Arimo Bold"/>
                <a:sym typeface="Arimo Bold"/>
              </a:rPr>
              <a:t>Tabel i PDF-ów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60208" y="6800850"/>
            <a:ext cx="3429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długie, urzędowe pola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19962" y="6800850"/>
            <a:ext cx="3429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słowa kluczowe i filtry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80670" y="6800850"/>
            <a:ext cx="3429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raporty do przekopania</a:t>
            </a:r>
          </a:p>
        </p:txBody>
      </p:sp>
      <p:grpSp>
        <p:nvGrpSpPr>
          <p:cNvPr name="Group 18" id="18"/>
          <p:cNvGrpSpPr/>
          <p:nvPr/>
        </p:nvGrpSpPr>
        <p:grpSpPr>
          <a:xfrm rot="-900000">
            <a:off x="1225062" y="6140783"/>
            <a:ext cx="4191000" cy="133350"/>
            <a:chOff x="0" y="0"/>
            <a:chExt cx="5588000" cy="177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"/>
            </a:xfrm>
            <a:custGeom>
              <a:avLst/>
              <a:gdLst/>
              <a:ahLst/>
              <a:cxnLst/>
              <a:rect r="r" b="b" t="t" l="l"/>
              <a:pathLst>
                <a:path h="177800" w="5588000">
                  <a:moveTo>
                    <a:pt x="20205" y="0"/>
                  </a:moveTo>
                  <a:lnTo>
                    <a:pt x="5567795" y="0"/>
                  </a:lnTo>
                  <a:cubicBezTo>
                    <a:pt x="5573154" y="0"/>
                    <a:pt x="5578293" y="2129"/>
                    <a:pt x="5582082" y="5918"/>
                  </a:cubicBezTo>
                  <a:cubicBezTo>
                    <a:pt x="5585871" y="9707"/>
                    <a:pt x="5588000" y="14846"/>
                    <a:pt x="5588000" y="20205"/>
                  </a:cubicBezTo>
                  <a:lnTo>
                    <a:pt x="5588000" y="157595"/>
                  </a:lnTo>
                  <a:cubicBezTo>
                    <a:pt x="5588000" y="162954"/>
                    <a:pt x="5585871" y="168093"/>
                    <a:pt x="5582082" y="171882"/>
                  </a:cubicBezTo>
                  <a:cubicBezTo>
                    <a:pt x="5578293" y="175671"/>
                    <a:pt x="5573154" y="177800"/>
                    <a:pt x="5567795" y="177800"/>
                  </a:cubicBezTo>
                  <a:lnTo>
                    <a:pt x="20205" y="177800"/>
                  </a:lnTo>
                  <a:cubicBezTo>
                    <a:pt x="14846" y="177800"/>
                    <a:pt x="9707" y="175671"/>
                    <a:pt x="5918" y="171882"/>
                  </a:cubicBezTo>
                  <a:cubicBezTo>
                    <a:pt x="2129" y="168093"/>
                    <a:pt x="0" y="162954"/>
                    <a:pt x="0" y="157595"/>
                  </a:cubicBezTo>
                  <a:lnTo>
                    <a:pt x="0" y="20205"/>
                  </a:lnTo>
                  <a:cubicBezTo>
                    <a:pt x="0" y="14846"/>
                    <a:pt x="2129" y="9707"/>
                    <a:pt x="5918" y="5918"/>
                  </a:cubicBezTo>
                  <a:cubicBezTo>
                    <a:pt x="9707" y="2129"/>
                    <a:pt x="14846" y="0"/>
                    <a:pt x="20205" y="0"/>
                  </a:cubicBezTo>
                  <a:close/>
                </a:path>
              </a:pathLst>
            </a:custGeom>
            <a:solidFill>
              <a:srgbClr val="DE0F6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588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900000">
            <a:off x="6884817" y="6140783"/>
            <a:ext cx="4191000" cy="133350"/>
            <a:chOff x="0" y="0"/>
            <a:chExt cx="5588000" cy="177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88000" cy="177800"/>
            </a:xfrm>
            <a:custGeom>
              <a:avLst/>
              <a:gdLst/>
              <a:ahLst/>
              <a:cxnLst/>
              <a:rect r="r" b="b" t="t" l="l"/>
              <a:pathLst>
                <a:path h="177800" w="5588000">
                  <a:moveTo>
                    <a:pt x="20205" y="0"/>
                  </a:moveTo>
                  <a:lnTo>
                    <a:pt x="5567795" y="0"/>
                  </a:lnTo>
                  <a:cubicBezTo>
                    <a:pt x="5573154" y="0"/>
                    <a:pt x="5578293" y="2129"/>
                    <a:pt x="5582082" y="5918"/>
                  </a:cubicBezTo>
                  <a:cubicBezTo>
                    <a:pt x="5585871" y="9707"/>
                    <a:pt x="5588000" y="14846"/>
                    <a:pt x="5588000" y="20205"/>
                  </a:cubicBezTo>
                  <a:lnTo>
                    <a:pt x="5588000" y="157595"/>
                  </a:lnTo>
                  <a:cubicBezTo>
                    <a:pt x="5588000" y="162954"/>
                    <a:pt x="5585871" y="168093"/>
                    <a:pt x="5582082" y="171882"/>
                  </a:cubicBezTo>
                  <a:cubicBezTo>
                    <a:pt x="5578293" y="175671"/>
                    <a:pt x="5573154" y="177800"/>
                    <a:pt x="5567795" y="177800"/>
                  </a:cubicBezTo>
                  <a:lnTo>
                    <a:pt x="20205" y="177800"/>
                  </a:lnTo>
                  <a:cubicBezTo>
                    <a:pt x="14846" y="177800"/>
                    <a:pt x="9707" y="175671"/>
                    <a:pt x="5918" y="171882"/>
                  </a:cubicBezTo>
                  <a:cubicBezTo>
                    <a:pt x="2129" y="168093"/>
                    <a:pt x="0" y="162954"/>
                    <a:pt x="0" y="157595"/>
                  </a:cubicBezTo>
                  <a:lnTo>
                    <a:pt x="0" y="20205"/>
                  </a:lnTo>
                  <a:cubicBezTo>
                    <a:pt x="0" y="14846"/>
                    <a:pt x="2129" y="9707"/>
                    <a:pt x="5918" y="5918"/>
                  </a:cubicBezTo>
                  <a:cubicBezTo>
                    <a:pt x="9707" y="2129"/>
                    <a:pt x="14846" y="0"/>
                    <a:pt x="20205" y="0"/>
                  </a:cubicBezTo>
                  <a:close/>
                </a:path>
              </a:pathLst>
            </a:custGeom>
            <a:solidFill>
              <a:srgbClr val="DE0F6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588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900000">
            <a:off x="12545524" y="6140783"/>
            <a:ext cx="4191000" cy="133350"/>
            <a:chOff x="0" y="0"/>
            <a:chExt cx="5588000" cy="177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88000" cy="177800"/>
            </a:xfrm>
            <a:custGeom>
              <a:avLst/>
              <a:gdLst/>
              <a:ahLst/>
              <a:cxnLst/>
              <a:rect r="r" b="b" t="t" l="l"/>
              <a:pathLst>
                <a:path h="177800" w="5588000">
                  <a:moveTo>
                    <a:pt x="20205" y="0"/>
                  </a:moveTo>
                  <a:lnTo>
                    <a:pt x="5567795" y="0"/>
                  </a:lnTo>
                  <a:cubicBezTo>
                    <a:pt x="5573154" y="0"/>
                    <a:pt x="5578293" y="2129"/>
                    <a:pt x="5582082" y="5918"/>
                  </a:cubicBezTo>
                  <a:cubicBezTo>
                    <a:pt x="5585871" y="9707"/>
                    <a:pt x="5588000" y="14846"/>
                    <a:pt x="5588000" y="20205"/>
                  </a:cubicBezTo>
                  <a:lnTo>
                    <a:pt x="5588000" y="157595"/>
                  </a:lnTo>
                  <a:cubicBezTo>
                    <a:pt x="5588000" y="162954"/>
                    <a:pt x="5585871" y="168093"/>
                    <a:pt x="5582082" y="171882"/>
                  </a:cubicBezTo>
                  <a:cubicBezTo>
                    <a:pt x="5578293" y="175671"/>
                    <a:pt x="5573154" y="177800"/>
                    <a:pt x="5567795" y="177800"/>
                  </a:cubicBezTo>
                  <a:lnTo>
                    <a:pt x="20205" y="177800"/>
                  </a:lnTo>
                  <a:cubicBezTo>
                    <a:pt x="14846" y="177800"/>
                    <a:pt x="9707" y="175671"/>
                    <a:pt x="5918" y="171882"/>
                  </a:cubicBezTo>
                  <a:cubicBezTo>
                    <a:pt x="2129" y="168093"/>
                    <a:pt x="0" y="162954"/>
                    <a:pt x="0" y="157595"/>
                  </a:cubicBezTo>
                  <a:lnTo>
                    <a:pt x="0" y="20205"/>
                  </a:lnTo>
                  <a:cubicBezTo>
                    <a:pt x="0" y="14846"/>
                    <a:pt x="2129" y="9707"/>
                    <a:pt x="5918" y="5918"/>
                  </a:cubicBezTo>
                  <a:cubicBezTo>
                    <a:pt x="9707" y="2129"/>
                    <a:pt x="14846" y="0"/>
                    <a:pt x="20205" y="0"/>
                  </a:cubicBezTo>
                  <a:close/>
                </a:path>
              </a:pathLst>
            </a:custGeom>
            <a:solidFill>
              <a:srgbClr val="DE0F6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588000" cy="215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381750" y="8648700"/>
            <a:ext cx="5524500" cy="1009650"/>
            <a:chOff x="0" y="0"/>
            <a:chExt cx="7366000" cy="1346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66000" cy="1346200"/>
            </a:xfrm>
            <a:custGeom>
              <a:avLst/>
              <a:gdLst/>
              <a:ahLst/>
              <a:cxnLst/>
              <a:rect r="r" b="b" t="t" l="l"/>
              <a:pathLst>
                <a:path h="1346200" w="7366000">
                  <a:moveTo>
                    <a:pt x="116052" y="0"/>
                  </a:moveTo>
                  <a:lnTo>
                    <a:pt x="7249948" y="0"/>
                  </a:lnTo>
                  <a:cubicBezTo>
                    <a:pt x="7280727" y="0"/>
                    <a:pt x="7310245" y="12227"/>
                    <a:pt x="7332009" y="33991"/>
                  </a:cubicBezTo>
                  <a:cubicBezTo>
                    <a:pt x="7353773" y="55755"/>
                    <a:pt x="7366000" y="85273"/>
                    <a:pt x="7366000" y="116052"/>
                  </a:cubicBezTo>
                  <a:lnTo>
                    <a:pt x="7366000" y="1230148"/>
                  </a:lnTo>
                  <a:cubicBezTo>
                    <a:pt x="7366000" y="1260927"/>
                    <a:pt x="7353773" y="1290445"/>
                    <a:pt x="7332009" y="1312209"/>
                  </a:cubicBezTo>
                  <a:cubicBezTo>
                    <a:pt x="7310245" y="1333973"/>
                    <a:pt x="7280727" y="1346200"/>
                    <a:pt x="7249948" y="1346200"/>
                  </a:cubicBezTo>
                  <a:lnTo>
                    <a:pt x="116052" y="1346200"/>
                  </a:lnTo>
                  <a:cubicBezTo>
                    <a:pt x="85273" y="1346200"/>
                    <a:pt x="55755" y="1333973"/>
                    <a:pt x="33991" y="1312209"/>
                  </a:cubicBezTo>
                  <a:cubicBezTo>
                    <a:pt x="12227" y="1290445"/>
                    <a:pt x="0" y="1260927"/>
                    <a:pt x="0" y="1230148"/>
                  </a:cubicBezTo>
                  <a:lnTo>
                    <a:pt x="0" y="116052"/>
                  </a:lnTo>
                  <a:cubicBezTo>
                    <a:pt x="0" y="85273"/>
                    <a:pt x="12227" y="55755"/>
                    <a:pt x="33991" y="33991"/>
                  </a:cubicBezTo>
                  <a:cubicBezTo>
                    <a:pt x="55755" y="12227"/>
                    <a:pt x="85273" y="0"/>
                    <a:pt x="116052" y="0"/>
                  </a:cubicBezTo>
                  <a:close/>
                </a:path>
              </a:pathLst>
            </a:custGeom>
            <a:solidFill>
              <a:srgbClr val="FFFFFF"/>
            </a:solidFill>
            <a:ln w="47625" cap="rnd">
              <a:solidFill>
                <a:srgbClr val="14AB67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366000" cy="138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3429000" y="8848725"/>
            <a:ext cx="11430000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90"/>
              </a:lnSpc>
              <a:spcBef>
                <a:spcPct val="0"/>
              </a:spcBef>
            </a:pPr>
            <a:r>
              <a:rPr lang="en-US" b="true" sz="3300" strike="noStrike" u="none">
                <a:solidFill>
                  <a:srgbClr val="14AB67"/>
                </a:solidFill>
                <a:latin typeface="Arimo Bold"/>
                <a:ea typeface="Arimo Bold"/>
                <a:cs typeface="Arimo Bold"/>
                <a:sym typeface="Arimo Bold"/>
              </a:rPr>
              <a:t>Jedna rozmowa z AI</a:t>
            </a:r>
          </a:p>
        </p:txBody>
      </p:sp>
    </p:spTree>
  </p:cSld>
  <p:clrMapOvr>
    <a:masterClrMapping/>
  </p:clrMapOvr>
  <p:transition spd="fast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7818" y="207708"/>
            <a:ext cx="1542230" cy="1727254"/>
          </a:xfrm>
          <a:custGeom>
            <a:avLst/>
            <a:gdLst/>
            <a:ahLst/>
            <a:cxnLst/>
            <a:rect r="r" b="b" t="t" l="l"/>
            <a:pathLst>
              <a:path h="1727254" w="1542230">
                <a:moveTo>
                  <a:pt x="0" y="0"/>
                </a:moveTo>
                <a:lnTo>
                  <a:pt x="1542230" y="0"/>
                </a:lnTo>
                <a:lnTo>
                  <a:pt x="154223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19196" y="207708"/>
            <a:ext cx="1968804" cy="2153601"/>
          </a:xfrm>
          <a:custGeom>
            <a:avLst/>
            <a:gdLst/>
            <a:ahLst/>
            <a:cxnLst/>
            <a:rect r="r" b="b" t="t" l="l"/>
            <a:pathLst>
              <a:path h="2153601" w="1968804">
                <a:moveTo>
                  <a:pt x="0" y="0"/>
                </a:moveTo>
                <a:lnTo>
                  <a:pt x="1968804" y="0"/>
                </a:lnTo>
                <a:lnTo>
                  <a:pt x="196880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56708" y="2776725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7062064"/>
            <a:ext cx="3489158" cy="3224936"/>
          </a:xfrm>
          <a:custGeom>
            <a:avLst/>
            <a:gdLst/>
            <a:ahLst/>
            <a:cxnLst/>
            <a:rect r="r" b="b" t="t" l="l"/>
            <a:pathLst>
              <a:path h="3224936" w="3489158">
                <a:moveTo>
                  <a:pt x="0" y="0"/>
                </a:moveTo>
                <a:lnTo>
                  <a:pt x="3489158" y="0"/>
                </a:lnTo>
                <a:lnTo>
                  <a:pt x="3489158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455110" y="7062064"/>
            <a:ext cx="2625072" cy="3224936"/>
          </a:xfrm>
          <a:custGeom>
            <a:avLst/>
            <a:gdLst/>
            <a:ahLst/>
            <a:cxnLst/>
            <a:rect r="r" b="b" t="t" l="l"/>
            <a:pathLst>
              <a:path h="3224936" w="2625072">
                <a:moveTo>
                  <a:pt x="0" y="0"/>
                </a:moveTo>
                <a:lnTo>
                  <a:pt x="2625072" y="0"/>
                </a:lnTo>
                <a:lnTo>
                  <a:pt x="2625072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84667" y="559587"/>
            <a:ext cx="7402147" cy="1848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4"/>
              </a:lnSpc>
            </a:pPr>
            <a:r>
              <a:rPr lang="en-US" b="true" sz="6938" spc="-138">
                <a:solidFill>
                  <a:srgbClr val="1A193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Jedno pole.</a:t>
            </a:r>
          </a:p>
          <a:p>
            <a:pPr algn="ctr">
              <a:lnSpc>
                <a:spcPts val="7284"/>
              </a:lnSpc>
            </a:pPr>
            <a:r>
              <a:rPr lang="en-US" b="true" sz="6938" spc="-138">
                <a:solidFill>
                  <a:srgbClr val="1A1936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Trzy kroki.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9866" y="2558085"/>
            <a:ext cx="5009512" cy="437279"/>
          </a:xfrm>
          <a:custGeom>
            <a:avLst/>
            <a:gdLst/>
            <a:ahLst/>
            <a:cxnLst/>
            <a:rect r="r" b="b" t="t" l="l"/>
            <a:pathLst>
              <a:path h="437279" w="5009512">
                <a:moveTo>
                  <a:pt x="0" y="0"/>
                </a:moveTo>
                <a:lnTo>
                  <a:pt x="5009512" y="0"/>
                </a:lnTo>
                <a:lnTo>
                  <a:pt x="5009512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1598" y="4711687"/>
            <a:ext cx="4145426" cy="3651284"/>
          </a:xfrm>
          <a:custGeom>
            <a:avLst/>
            <a:gdLst/>
            <a:ahLst/>
            <a:cxnLst/>
            <a:rect r="r" b="b" t="t" l="l"/>
            <a:pathLst>
              <a:path h="3651284" w="4145426">
                <a:moveTo>
                  <a:pt x="0" y="0"/>
                </a:moveTo>
                <a:lnTo>
                  <a:pt x="4145426" y="0"/>
                </a:lnTo>
                <a:lnTo>
                  <a:pt x="414542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52725" y="7477125"/>
            <a:ext cx="1249059" cy="37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549" spc="-51" strike="noStrike" u="none">
                <a:solidFill>
                  <a:srgbClr val="6B6B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OPISZ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956440" y="4711687"/>
            <a:ext cx="4156364" cy="3651284"/>
          </a:xfrm>
          <a:custGeom>
            <a:avLst/>
            <a:gdLst/>
            <a:ahLst/>
            <a:cxnLst/>
            <a:rect r="r" b="b" t="t" l="l"/>
            <a:pathLst>
              <a:path h="3651284" w="4156364">
                <a:moveTo>
                  <a:pt x="0" y="0"/>
                </a:moveTo>
                <a:lnTo>
                  <a:pt x="4156364" y="0"/>
                </a:lnTo>
                <a:lnTo>
                  <a:pt x="4156364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124825" y="7477125"/>
            <a:ext cx="1820253" cy="37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549" spc="-51" strike="noStrike" u="none">
                <a:solidFill>
                  <a:srgbClr val="6B6B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DOPASUJ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622220" y="4711687"/>
            <a:ext cx="4145426" cy="3651284"/>
          </a:xfrm>
          <a:custGeom>
            <a:avLst/>
            <a:gdLst/>
            <a:ahLst/>
            <a:cxnLst/>
            <a:rect r="r" b="b" t="t" l="l"/>
            <a:pathLst>
              <a:path h="3651284" w="4145426">
                <a:moveTo>
                  <a:pt x="0" y="0"/>
                </a:moveTo>
                <a:lnTo>
                  <a:pt x="4145426" y="0"/>
                </a:lnTo>
                <a:lnTo>
                  <a:pt x="4145426" y="3651283"/>
                </a:lnTo>
                <a:lnTo>
                  <a:pt x="0" y="36512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947457" y="7477125"/>
            <a:ext cx="1495730" cy="37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9"/>
              </a:lnSpc>
              <a:spcBef>
                <a:spcPct val="0"/>
              </a:spcBef>
            </a:pPr>
            <a:r>
              <a:rPr lang="en-US" b="true" sz="2549" spc="-51" strike="noStrike" u="none">
                <a:solidFill>
                  <a:srgbClr val="6B6B6B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WDRÓŻ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414366" y="6194253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080146" y="6194253"/>
            <a:ext cx="1531292" cy="655919"/>
          </a:xfrm>
          <a:custGeom>
            <a:avLst/>
            <a:gdLst/>
            <a:ahLst/>
            <a:cxnLst/>
            <a:rect r="r" b="b" t="t" l="l"/>
            <a:pathLst>
              <a:path h="655919" w="1531292">
                <a:moveTo>
                  <a:pt x="0" y="0"/>
                </a:moveTo>
                <a:lnTo>
                  <a:pt x="1531292" y="0"/>
                </a:lnTo>
                <a:lnTo>
                  <a:pt x="153129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565083" y="5619750"/>
            <a:ext cx="1619250" cy="1524000"/>
            <a:chOff x="0" y="0"/>
            <a:chExt cx="2159000" cy="2032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4770" y="162560"/>
              <a:ext cx="2029460" cy="1747520"/>
            </a:xfrm>
            <a:custGeom>
              <a:avLst/>
              <a:gdLst/>
              <a:ahLst/>
              <a:cxnLst/>
              <a:rect r="r" b="b" t="t" l="l"/>
              <a:pathLst>
                <a:path h="1747520" w="2029460">
                  <a:moveTo>
                    <a:pt x="259080" y="0"/>
                  </a:moveTo>
                  <a:lnTo>
                    <a:pt x="1770380" y="0"/>
                  </a:lnTo>
                  <a:cubicBezTo>
                    <a:pt x="1913466" y="0"/>
                    <a:pt x="2029460" y="109171"/>
                    <a:pt x="2029460" y="243840"/>
                  </a:cubicBezTo>
                  <a:lnTo>
                    <a:pt x="2029460" y="1097280"/>
                  </a:lnTo>
                  <a:cubicBezTo>
                    <a:pt x="2029460" y="1231949"/>
                    <a:pt x="1913466" y="1341120"/>
                    <a:pt x="1770380" y="1341120"/>
                  </a:cubicBezTo>
                  <a:lnTo>
                    <a:pt x="906780" y="1341120"/>
                  </a:lnTo>
                  <a:lnTo>
                    <a:pt x="410210" y="1747520"/>
                  </a:lnTo>
                  <a:lnTo>
                    <a:pt x="410210" y="1341120"/>
                  </a:lnTo>
                  <a:lnTo>
                    <a:pt x="259080" y="1341120"/>
                  </a:lnTo>
                  <a:cubicBezTo>
                    <a:pt x="115994" y="1341120"/>
                    <a:pt x="0" y="1231949"/>
                    <a:pt x="0" y="1097280"/>
                  </a:cubicBezTo>
                  <a:lnTo>
                    <a:pt x="0" y="243840"/>
                  </a:lnTo>
                  <a:cubicBezTo>
                    <a:pt x="0" y="109171"/>
                    <a:pt x="115994" y="0"/>
                    <a:pt x="259080" y="0"/>
                  </a:cubicBezTo>
                  <a:close/>
                </a:path>
              </a:pathLst>
            </a:custGeom>
            <a:solidFill>
              <a:srgbClr val="DE0F6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1590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876550" y="6172200"/>
            <a:ext cx="209550" cy="209550"/>
            <a:chOff x="0" y="0"/>
            <a:chExt cx="279400" cy="279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216854"/>
                    <a:pt x="62546" y="279400"/>
                    <a:pt x="139700" y="279400"/>
                  </a:cubicBezTo>
                  <a:cubicBezTo>
                    <a:pt x="216854" y="279400"/>
                    <a:pt x="279400" y="216854"/>
                    <a:pt x="279400" y="139700"/>
                  </a:cubicBezTo>
                  <a:cubicBezTo>
                    <a:pt x="279400" y="62546"/>
                    <a:pt x="216854" y="0"/>
                    <a:pt x="139700" y="0"/>
                  </a:cubicBezTo>
                  <a:cubicBezTo>
                    <a:pt x="62546" y="0"/>
                    <a:pt x="0" y="62546"/>
                    <a:pt x="0" y="139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794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69933" y="6172200"/>
            <a:ext cx="209550" cy="209550"/>
            <a:chOff x="0" y="0"/>
            <a:chExt cx="279400" cy="279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216854"/>
                    <a:pt x="62546" y="279400"/>
                    <a:pt x="139700" y="279400"/>
                  </a:cubicBezTo>
                  <a:cubicBezTo>
                    <a:pt x="216854" y="279400"/>
                    <a:pt x="279400" y="216854"/>
                    <a:pt x="279400" y="139700"/>
                  </a:cubicBezTo>
                  <a:cubicBezTo>
                    <a:pt x="279400" y="62546"/>
                    <a:pt x="216854" y="0"/>
                    <a:pt x="139700" y="0"/>
                  </a:cubicBezTo>
                  <a:cubicBezTo>
                    <a:pt x="62546" y="0"/>
                    <a:pt x="0" y="62546"/>
                    <a:pt x="0" y="139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794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663315" y="6172200"/>
            <a:ext cx="209550" cy="209550"/>
            <a:chOff x="0" y="0"/>
            <a:chExt cx="279400" cy="279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9400" cy="279400"/>
            </a:xfrm>
            <a:custGeom>
              <a:avLst/>
              <a:gdLst/>
              <a:ahLst/>
              <a:cxnLst/>
              <a:rect r="r" b="b" t="t" l="l"/>
              <a:pathLst>
                <a:path h="279400" w="279400">
                  <a:moveTo>
                    <a:pt x="0" y="139700"/>
                  </a:moveTo>
                  <a:cubicBezTo>
                    <a:pt x="0" y="216854"/>
                    <a:pt x="62546" y="279400"/>
                    <a:pt x="139700" y="279400"/>
                  </a:cubicBezTo>
                  <a:cubicBezTo>
                    <a:pt x="216854" y="279400"/>
                    <a:pt x="279400" y="216854"/>
                    <a:pt x="279400" y="139700"/>
                  </a:cubicBezTo>
                  <a:cubicBezTo>
                    <a:pt x="279400" y="62546"/>
                    <a:pt x="216854" y="0"/>
                    <a:pt x="139700" y="0"/>
                  </a:cubicBezTo>
                  <a:cubicBezTo>
                    <a:pt x="62546" y="0"/>
                    <a:pt x="0" y="62546"/>
                    <a:pt x="0" y="1397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94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291512" y="5600700"/>
            <a:ext cx="1104900" cy="1104900"/>
            <a:chOff x="0" y="0"/>
            <a:chExt cx="1473200" cy="1473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736600"/>
                  </a:moveTo>
                  <a:cubicBezTo>
                    <a:pt x="0" y="1143413"/>
                    <a:pt x="329787" y="1473200"/>
                    <a:pt x="736600" y="1473200"/>
                  </a:cubicBezTo>
                  <a:cubicBezTo>
                    <a:pt x="1143413" y="1473200"/>
                    <a:pt x="1473200" y="1143413"/>
                    <a:pt x="1473200" y="736600"/>
                  </a:cubicBezTo>
                  <a:cubicBezTo>
                    <a:pt x="1473200" y="329787"/>
                    <a:pt x="1143413" y="0"/>
                    <a:pt x="736600" y="0"/>
                  </a:cubicBezTo>
                  <a:cubicBezTo>
                    <a:pt x="329787" y="0"/>
                    <a:pt x="0" y="329787"/>
                    <a:pt x="0" y="736600"/>
                  </a:cubicBezTo>
                  <a:close/>
                </a:path>
              </a:pathLst>
            </a:custGeom>
            <a:solidFill>
              <a:srgbClr val="29A9E1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473200" cy="151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01062" y="5810250"/>
            <a:ext cx="685800" cy="685800"/>
            <a:chOff x="0" y="0"/>
            <a:chExt cx="91440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709705"/>
                    <a:pt x="204695" y="914400"/>
                    <a:pt x="457200" y="914400"/>
                  </a:cubicBezTo>
                  <a:cubicBezTo>
                    <a:pt x="709705" y="914400"/>
                    <a:pt x="914400" y="709705"/>
                    <a:pt x="914400" y="457200"/>
                  </a:cubicBezTo>
                  <a:cubicBezTo>
                    <a:pt x="914400" y="204695"/>
                    <a:pt x="709705" y="0"/>
                    <a:pt x="457200" y="0"/>
                  </a:cubicBezTo>
                  <a:cubicBezTo>
                    <a:pt x="204695" y="0"/>
                    <a:pt x="0" y="204695"/>
                    <a:pt x="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91625" y="6477000"/>
            <a:ext cx="666750" cy="666750"/>
            <a:chOff x="0" y="0"/>
            <a:chExt cx="889000" cy="889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6550" cy="916550"/>
            </a:xfrm>
            <a:custGeom>
              <a:avLst/>
              <a:gdLst/>
              <a:ahLst/>
              <a:cxnLst/>
              <a:rect r="r" b="b" t="t" l="l"/>
              <a:pathLst>
                <a:path h="916550" w="916550">
                  <a:moveTo>
                    <a:pt x="0" y="160020"/>
                  </a:moveTo>
                  <a:lnTo>
                    <a:pt x="160020" y="0"/>
                  </a:lnTo>
                  <a:lnTo>
                    <a:pt x="889000" y="728980"/>
                  </a:lnTo>
                  <a:cubicBezTo>
                    <a:pt x="931902" y="774773"/>
                    <a:pt x="923002" y="835356"/>
                    <a:pt x="874079" y="874079"/>
                  </a:cubicBezTo>
                  <a:cubicBezTo>
                    <a:pt x="835356" y="923002"/>
                    <a:pt x="774773" y="931902"/>
                    <a:pt x="728980" y="889000"/>
                  </a:cubicBezTo>
                  <a:close/>
                </a:path>
              </a:pathLst>
            </a:custGeom>
            <a:solidFill>
              <a:srgbClr val="29A9E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89000" cy="92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885545" y="5572125"/>
            <a:ext cx="1619250" cy="1619250"/>
            <a:chOff x="0" y="0"/>
            <a:chExt cx="2159000" cy="2159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259080" y="64770"/>
              <a:ext cx="1640840" cy="1489710"/>
            </a:xfrm>
            <a:custGeom>
              <a:avLst/>
              <a:gdLst/>
              <a:ahLst/>
              <a:cxnLst/>
              <a:rect r="r" b="b" t="t" l="l"/>
              <a:pathLst>
                <a:path h="1489710" w="1640840">
                  <a:moveTo>
                    <a:pt x="820420" y="0"/>
                  </a:moveTo>
                  <a:cubicBezTo>
                    <a:pt x="1209040" y="280670"/>
                    <a:pt x="1338580" y="755650"/>
                    <a:pt x="1252220" y="1360170"/>
                  </a:cubicBezTo>
                  <a:lnTo>
                    <a:pt x="388620" y="1360170"/>
                  </a:lnTo>
                  <a:cubicBezTo>
                    <a:pt x="302260" y="755650"/>
                    <a:pt x="431800" y="280670"/>
                    <a:pt x="820420" y="0"/>
                  </a:cubicBezTo>
                  <a:close/>
                  <a:moveTo>
                    <a:pt x="388620" y="971550"/>
                  </a:moveTo>
                  <a:lnTo>
                    <a:pt x="0" y="1489710"/>
                  </a:lnTo>
                  <a:lnTo>
                    <a:pt x="388620" y="1489710"/>
                  </a:lnTo>
                  <a:close/>
                  <a:moveTo>
                    <a:pt x="1252220" y="971550"/>
                  </a:moveTo>
                  <a:lnTo>
                    <a:pt x="1640840" y="1489710"/>
                  </a:lnTo>
                  <a:lnTo>
                    <a:pt x="1252220" y="1489710"/>
                  </a:lnTo>
                  <a:close/>
                </a:path>
              </a:pathLst>
            </a:custGeom>
            <a:solidFill>
              <a:srgbClr val="9BD60B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159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533245" y="6677025"/>
            <a:ext cx="323850" cy="476250"/>
            <a:chOff x="0" y="0"/>
            <a:chExt cx="431800" cy="635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800" cy="635000"/>
            </a:xfrm>
            <a:custGeom>
              <a:avLst/>
              <a:gdLst/>
              <a:ahLst/>
              <a:cxnLst/>
              <a:rect r="r" b="b" t="t" l="l"/>
              <a:pathLst>
                <a:path h="635000" w="431800">
                  <a:moveTo>
                    <a:pt x="0" y="0"/>
                  </a:moveTo>
                  <a:lnTo>
                    <a:pt x="431800" y="0"/>
                  </a:lnTo>
                  <a:lnTo>
                    <a:pt x="215900" y="635000"/>
                  </a:lnTo>
                  <a:close/>
                </a:path>
              </a:pathLst>
            </a:custGeom>
            <a:solidFill>
              <a:srgbClr val="DE0F6D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31800" cy="67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561820" y="5943600"/>
            <a:ext cx="266700" cy="266700"/>
            <a:chOff x="0" y="0"/>
            <a:chExt cx="355600" cy="355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275996"/>
                    <a:pt x="79604" y="355600"/>
                    <a:pt x="177800" y="355600"/>
                  </a:cubicBezTo>
                  <a:cubicBezTo>
                    <a:pt x="275996" y="355600"/>
                    <a:pt x="355600" y="275996"/>
                    <a:pt x="355600" y="177800"/>
                  </a:cubicBezTo>
                  <a:cubicBezTo>
                    <a:pt x="355600" y="79604"/>
                    <a:pt x="275996" y="0"/>
                    <a:pt x="177800" y="0"/>
                  </a:cubicBezTo>
                  <a:cubicBezTo>
                    <a:pt x="79604" y="0"/>
                    <a:pt x="0" y="79604"/>
                    <a:pt x="0" y="177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3556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38250" y="3810000"/>
            <a:ext cx="15621000" cy="914400"/>
            <a:chOff x="0" y="0"/>
            <a:chExt cx="208280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0828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828000">
                  <a:moveTo>
                    <a:pt x="0" y="0"/>
                  </a:moveTo>
                  <a:lnTo>
                    <a:pt x="20828000" y="0"/>
                  </a:lnTo>
                  <a:lnTo>
                    <a:pt x="208280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20828000" cy="1257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DAHXCxzCnbA</dc:identifier>
  <dcterms:modified xsi:type="dcterms:W3CDTF">2011-08-01T06:04:30Z</dcterms:modified>
  <cp:revision>1</cp:revision>
  <dc:title>Pitch Hubmi</dc:title>
</cp:coreProperties>
</file>