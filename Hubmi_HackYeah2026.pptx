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 Bold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Montaser Arabic" panose="020B0604020202020204" charset="-78"/>
      <p:regular r:id="rId14"/>
    </p:embeddedFont>
    <p:embeddedFont>
      <p:font typeface="Montaser Arabic Bold" panose="020B0604020202020204" charset="-78"/>
      <p:regular r:id="rId15"/>
    </p:embeddedFont>
    <p:embeddedFont>
      <p:font typeface="Montaser Arabic Medium" panose="020B0604020202020204" charset="-78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e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50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5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37952" y="0"/>
            <a:ext cx="1750048" cy="2361309"/>
          </a:xfrm>
          <a:custGeom>
            <a:avLst/>
            <a:gdLst/>
            <a:ahLst/>
            <a:cxnLst/>
            <a:rect l="l" t="t" r="r" b="b"/>
            <a:pathLst>
              <a:path w="1750048" h="2361309">
                <a:moveTo>
                  <a:pt x="0" y="0"/>
                </a:moveTo>
                <a:lnTo>
                  <a:pt x="1750048" y="0"/>
                </a:lnTo>
                <a:lnTo>
                  <a:pt x="175004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001586" y="1624960"/>
            <a:ext cx="12003900" cy="11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sz="8266" b="1" spc="-246">
                <a:solidFill>
                  <a:srgbClr val="15122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hubmi-innovations.org</a:t>
            </a:r>
          </a:p>
        </p:txBody>
      </p:sp>
      <p:sp>
        <p:nvSpPr>
          <p:cNvPr id="7" name="Freeform 7"/>
          <p:cNvSpPr/>
          <p:nvPr/>
        </p:nvSpPr>
        <p:spPr>
          <a:xfrm>
            <a:off x="6311110" y="2776725"/>
            <a:ext cx="5665780" cy="448211"/>
          </a:xfrm>
          <a:custGeom>
            <a:avLst/>
            <a:gdLst/>
            <a:ahLst/>
            <a:cxnLst/>
            <a:rect l="l" t="t" r="r" b="b"/>
            <a:pathLst>
              <a:path w="5665780" h="448211">
                <a:moveTo>
                  <a:pt x="0" y="0"/>
                </a:moveTo>
                <a:lnTo>
                  <a:pt x="5665780" y="0"/>
                </a:lnTo>
                <a:lnTo>
                  <a:pt x="5665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64086" y="4066699"/>
            <a:ext cx="4145426" cy="1727254"/>
          </a:xfrm>
          <a:custGeom>
            <a:avLst/>
            <a:gdLst/>
            <a:ahLst/>
            <a:cxnLst/>
            <a:rect l="l" t="t" r="r" b="b"/>
            <a:pathLst>
              <a:path w="4145426" h="1727254">
                <a:moveTo>
                  <a:pt x="0" y="0"/>
                </a:moveTo>
                <a:lnTo>
                  <a:pt x="4145426" y="0"/>
                </a:lnTo>
                <a:lnTo>
                  <a:pt x="414542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01598" y="4285339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63531" y="4529424"/>
            <a:ext cx="272851" cy="8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7"/>
              </a:lnSpc>
            </a:pPr>
            <a:r>
              <a:rPr lang="en-US" sz="5554" b="1" spc="-165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07471" y="4455237"/>
            <a:ext cx="1785672" cy="9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168" b="1" spc="-30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Opisz problem</a:t>
            </a:r>
          </a:p>
        </p:txBody>
      </p:sp>
      <p:sp>
        <p:nvSpPr>
          <p:cNvPr id="12" name="Freeform 12"/>
          <p:cNvSpPr/>
          <p:nvPr/>
        </p:nvSpPr>
        <p:spPr>
          <a:xfrm>
            <a:off x="4998574" y="4493047"/>
            <a:ext cx="1760986" cy="655919"/>
          </a:xfrm>
          <a:custGeom>
            <a:avLst/>
            <a:gdLst/>
            <a:ahLst/>
            <a:cxnLst/>
            <a:rect l="l" t="t" r="r" b="b"/>
            <a:pathLst>
              <a:path w="1760986" h="655919">
                <a:moveTo>
                  <a:pt x="0" y="0"/>
                </a:moveTo>
                <a:lnTo>
                  <a:pt x="1760986" y="0"/>
                </a:lnTo>
                <a:lnTo>
                  <a:pt x="176098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6529866" y="4066699"/>
            <a:ext cx="5009512" cy="1727254"/>
          </a:xfrm>
          <a:custGeom>
            <a:avLst/>
            <a:gdLst/>
            <a:ahLst/>
            <a:cxnLst/>
            <a:rect l="l" t="t" r="r" b="b"/>
            <a:pathLst>
              <a:path w="5009512" h="1727254">
                <a:moveTo>
                  <a:pt x="0" y="0"/>
                </a:moveTo>
                <a:lnTo>
                  <a:pt x="5009512" y="0"/>
                </a:lnTo>
                <a:lnTo>
                  <a:pt x="500951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956440" y="4285339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269534" y="4529424"/>
            <a:ext cx="419408" cy="8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7"/>
              </a:lnSpc>
            </a:pPr>
            <a:r>
              <a:rPr lang="en-US" sz="5554" b="1" spc="-165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39029" y="4455237"/>
            <a:ext cx="3163507" cy="9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168" b="1" spc="-30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Dostań gotowe rozwiązanie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747196" y="4493047"/>
            <a:ext cx="1542230" cy="655919"/>
          </a:xfrm>
          <a:custGeom>
            <a:avLst/>
            <a:gdLst/>
            <a:ahLst/>
            <a:cxnLst/>
            <a:rect l="l" t="t" r="r" b="b"/>
            <a:pathLst>
              <a:path w="1542230" h="655919">
                <a:moveTo>
                  <a:pt x="0" y="0"/>
                </a:moveTo>
                <a:lnTo>
                  <a:pt x="1542230" y="0"/>
                </a:lnTo>
                <a:lnTo>
                  <a:pt x="154223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3278488" y="4066699"/>
            <a:ext cx="4145426" cy="1727254"/>
          </a:xfrm>
          <a:custGeom>
            <a:avLst/>
            <a:gdLst/>
            <a:ahLst/>
            <a:cxnLst/>
            <a:rect l="l" t="t" r="r" b="b"/>
            <a:pathLst>
              <a:path w="4145426" h="1727254">
                <a:moveTo>
                  <a:pt x="0" y="0"/>
                </a:moveTo>
                <a:lnTo>
                  <a:pt x="4145426" y="0"/>
                </a:lnTo>
                <a:lnTo>
                  <a:pt x="414542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3497244" y="4285339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3887162" y="4529424"/>
            <a:ext cx="417949" cy="80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07"/>
              </a:lnSpc>
            </a:pPr>
            <a:r>
              <a:rPr lang="en-US" sz="5554" b="1" spc="-165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68321" y="4455237"/>
            <a:ext cx="1924153" cy="902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3168" b="1" spc="-30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Wdróż je</a:t>
            </a:r>
          </a:p>
          <a:p>
            <a:pPr algn="l">
              <a:lnSpc>
                <a:spcPts val="3644"/>
              </a:lnSpc>
            </a:pPr>
            <a:r>
              <a:rPr lang="en-US" sz="3168" b="1" spc="-30">
                <a:solidFill>
                  <a:srgbClr val="F4F4F4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 planem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3333" y="6528409"/>
            <a:ext cx="14692720" cy="390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4"/>
              </a:lnSpc>
            </a:pPr>
            <a:r>
              <a:rPr lang="en-US" sz="2759" b="1" spc="-26">
                <a:solidFill>
                  <a:srgbClr val="15122E"/>
                </a:solidFill>
                <a:latin typeface="Montaser Arabic Medium"/>
                <a:ea typeface="Montaser Arabic Medium"/>
                <a:cs typeface="Montaser Arabic Medium"/>
                <a:sym typeface="Montaser Arabic Medium"/>
              </a:rPr>
              <a:t>Platforma innowacji społecznych dla Krakowa  •  ROPS Kraków  •  HackYeah 2026</a:t>
            </a:r>
          </a:p>
        </p:txBody>
      </p:sp>
      <p:sp>
        <p:nvSpPr>
          <p:cNvPr id="23" name="Freeform 23"/>
          <p:cNvSpPr/>
          <p:nvPr/>
        </p:nvSpPr>
        <p:spPr>
          <a:xfrm>
            <a:off x="4134488" y="7499343"/>
            <a:ext cx="10019024" cy="1508614"/>
          </a:xfrm>
          <a:custGeom>
            <a:avLst/>
            <a:gdLst/>
            <a:ahLst/>
            <a:cxnLst/>
            <a:rect l="l" t="t" r="r" b="b"/>
            <a:pathLst>
              <a:path w="10019024" h="1508614">
                <a:moveTo>
                  <a:pt x="0" y="0"/>
                </a:moveTo>
                <a:lnTo>
                  <a:pt x="10019024" y="0"/>
                </a:lnTo>
                <a:lnTo>
                  <a:pt x="1001902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5041921" y="8037763"/>
            <a:ext cx="7982701" cy="440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3168" b="1" spc="-30">
                <a:solidFill>
                  <a:srgbClr val="E10F6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Demo  →  </a:t>
            </a:r>
            <a:r>
              <a:rPr lang="en-US" sz="3168" b="1" spc="-30">
                <a:solidFill>
                  <a:srgbClr val="600E8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www.hubmi-innovations.org</a:t>
            </a:r>
          </a:p>
        </p:txBody>
      </p:sp>
      <p:sp>
        <p:nvSpPr>
          <p:cNvPr id="25" name="Freeform 25"/>
          <p:cNvSpPr/>
          <p:nvPr/>
        </p:nvSpPr>
        <p:spPr>
          <a:xfrm>
            <a:off x="0" y="7062064"/>
            <a:ext cx="3707914" cy="3224936"/>
          </a:xfrm>
          <a:custGeom>
            <a:avLst/>
            <a:gdLst/>
            <a:ahLst/>
            <a:cxnLst/>
            <a:rect l="l" t="t" r="r" b="b"/>
            <a:pathLst>
              <a:path w="3707914" h="3224936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5455110" y="7062064"/>
            <a:ext cx="2832890" cy="3224936"/>
          </a:xfrm>
          <a:custGeom>
            <a:avLst/>
            <a:gdLst/>
            <a:ahLst/>
            <a:cxnLst/>
            <a:rect l="l" t="t" r="r" b="b"/>
            <a:pathLst>
              <a:path w="2832890" h="3224936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537952" y="0"/>
            <a:ext cx="1750048" cy="2361309"/>
          </a:xfrm>
          <a:custGeom>
            <a:avLst/>
            <a:gdLst/>
            <a:ahLst/>
            <a:cxnLst/>
            <a:rect l="l" t="t" r="r" b="b"/>
            <a:pathLst>
              <a:path w="1750048" h="2361309">
                <a:moveTo>
                  <a:pt x="0" y="0"/>
                </a:moveTo>
                <a:lnTo>
                  <a:pt x="1750048" y="0"/>
                </a:lnTo>
                <a:lnTo>
                  <a:pt x="175004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7062064"/>
            <a:ext cx="3707914" cy="3224936"/>
          </a:xfrm>
          <a:custGeom>
            <a:avLst/>
            <a:gdLst/>
            <a:ahLst/>
            <a:cxnLst/>
            <a:rect l="l" t="t" r="r" b="b"/>
            <a:pathLst>
              <a:path w="3707914" h="3224936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55110" y="7062064"/>
            <a:ext cx="2832890" cy="3224936"/>
          </a:xfrm>
          <a:custGeom>
            <a:avLst/>
            <a:gdLst/>
            <a:ahLst/>
            <a:cxnLst/>
            <a:rect l="l" t="t" r="r" b="b"/>
            <a:pathLst>
              <a:path w="2832890" h="3224936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455663" y="770836"/>
            <a:ext cx="9111283" cy="1927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3"/>
              </a:lnSpc>
            </a:pPr>
            <a:r>
              <a:rPr lang="en-US" sz="6426" b="1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Rozwiązania istnieją.</a:t>
            </a:r>
          </a:p>
          <a:p>
            <a:pPr algn="ctr">
              <a:lnSpc>
                <a:spcPts val="7713"/>
              </a:lnSpc>
            </a:pPr>
            <a:r>
              <a:rPr lang="en-US" sz="6426" b="1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Nie docierają do ludzi.</a:t>
            </a:r>
          </a:p>
        </p:txBody>
      </p:sp>
      <p:sp>
        <p:nvSpPr>
          <p:cNvPr id="9" name="Freeform 9"/>
          <p:cNvSpPr/>
          <p:nvPr/>
        </p:nvSpPr>
        <p:spPr>
          <a:xfrm>
            <a:off x="6529866" y="2776725"/>
            <a:ext cx="5009512" cy="448211"/>
          </a:xfrm>
          <a:custGeom>
            <a:avLst/>
            <a:gdLst/>
            <a:ahLst/>
            <a:cxnLst/>
            <a:rect l="l" t="t" r="r" b="b"/>
            <a:pathLst>
              <a:path w="5009512" h="448211">
                <a:moveTo>
                  <a:pt x="0" y="0"/>
                </a:moveTo>
                <a:lnTo>
                  <a:pt x="5009512" y="0"/>
                </a:lnTo>
                <a:lnTo>
                  <a:pt x="5009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520354" y="3848060"/>
            <a:ext cx="4145426" cy="4088563"/>
          </a:xfrm>
          <a:custGeom>
            <a:avLst/>
            <a:gdLst/>
            <a:ahLst/>
            <a:cxnLst/>
            <a:rect l="l" t="t" r="r" b="b"/>
            <a:pathLst>
              <a:path w="4145426" h="4088563">
                <a:moveTo>
                  <a:pt x="0" y="0"/>
                </a:moveTo>
                <a:lnTo>
                  <a:pt x="4145426" y="0"/>
                </a:lnTo>
                <a:lnTo>
                  <a:pt x="414542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20354" y="3848060"/>
            <a:ext cx="4145426" cy="1300906"/>
          </a:xfrm>
          <a:custGeom>
            <a:avLst/>
            <a:gdLst/>
            <a:ahLst/>
            <a:cxnLst/>
            <a:rect l="l" t="t" r="r" b="b"/>
            <a:pathLst>
              <a:path w="4145426" h="130090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355816" y="4069160"/>
            <a:ext cx="2337107" cy="82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484" b="1" spc="-109">
                <a:solidFill>
                  <a:srgbClr val="F8F8F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~2 300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69191" y="5707037"/>
            <a:ext cx="3247752" cy="79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osób w kryzysie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bezdomności w Krakowie,</a:t>
            </a:r>
          </a:p>
        </p:txBody>
      </p:sp>
      <p:sp>
        <p:nvSpPr>
          <p:cNvPr id="14" name="Freeform 14"/>
          <p:cNvSpPr/>
          <p:nvPr/>
        </p:nvSpPr>
        <p:spPr>
          <a:xfrm>
            <a:off x="5654842" y="5356674"/>
            <a:ext cx="1312536" cy="644987"/>
          </a:xfrm>
          <a:custGeom>
            <a:avLst/>
            <a:gdLst/>
            <a:ahLst/>
            <a:cxnLst/>
            <a:rect l="l" t="t" r="r" b="b"/>
            <a:pathLst>
              <a:path w="1312536" h="644987">
                <a:moveTo>
                  <a:pt x="0" y="0"/>
                </a:moveTo>
                <a:lnTo>
                  <a:pt x="1312536" y="0"/>
                </a:lnTo>
                <a:lnTo>
                  <a:pt x="131253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956440" y="3848060"/>
            <a:ext cx="4375120" cy="4088563"/>
          </a:xfrm>
          <a:custGeom>
            <a:avLst/>
            <a:gdLst/>
            <a:ahLst/>
            <a:cxnLst/>
            <a:rect l="l" t="t" r="r" b="b"/>
            <a:pathLst>
              <a:path w="4375120" h="4088563">
                <a:moveTo>
                  <a:pt x="0" y="0"/>
                </a:moveTo>
                <a:lnTo>
                  <a:pt x="4375120" y="0"/>
                </a:lnTo>
                <a:lnTo>
                  <a:pt x="437512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6956440" y="3848060"/>
            <a:ext cx="4375120" cy="1300906"/>
          </a:xfrm>
          <a:custGeom>
            <a:avLst/>
            <a:gdLst/>
            <a:ahLst/>
            <a:cxnLst/>
            <a:rect l="l" t="t" r="r" b="b"/>
            <a:pathLst>
              <a:path w="4375120" h="1300906">
                <a:moveTo>
                  <a:pt x="0" y="0"/>
                </a:moveTo>
                <a:lnTo>
                  <a:pt x="4375120" y="0"/>
                </a:lnTo>
                <a:lnTo>
                  <a:pt x="437512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537696" y="4069160"/>
            <a:ext cx="3136349" cy="82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484" b="1" spc="-109">
                <a:solidFill>
                  <a:srgbClr val="F8F8F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~200 tys.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13026" y="5707037"/>
            <a:ext cx="2785688" cy="79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Krakowian w wieku emerytalnym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101866" y="5356674"/>
            <a:ext cx="1531292" cy="644987"/>
          </a:xfrm>
          <a:custGeom>
            <a:avLst/>
            <a:gdLst/>
            <a:ahLst/>
            <a:cxnLst/>
            <a:rect l="l" t="t" r="r" b="b"/>
            <a:pathLst>
              <a:path w="1531292" h="644987">
                <a:moveTo>
                  <a:pt x="0" y="0"/>
                </a:moveTo>
                <a:lnTo>
                  <a:pt x="1531292" y="0"/>
                </a:lnTo>
                <a:lnTo>
                  <a:pt x="153129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622220" y="3848060"/>
            <a:ext cx="4145426" cy="4088563"/>
          </a:xfrm>
          <a:custGeom>
            <a:avLst/>
            <a:gdLst/>
            <a:ahLst/>
            <a:cxnLst/>
            <a:rect l="l" t="t" r="r" b="b"/>
            <a:pathLst>
              <a:path w="4145426" h="4088563">
                <a:moveTo>
                  <a:pt x="0" y="0"/>
                </a:moveTo>
                <a:lnTo>
                  <a:pt x="4145426" y="0"/>
                </a:lnTo>
                <a:lnTo>
                  <a:pt x="414542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2622220" y="3848060"/>
            <a:ext cx="4145426" cy="1300906"/>
          </a:xfrm>
          <a:custGeom>
            <a:avLst/>
            <a:gdLst/>
            <a:ahLst/>
            <a:cxnLst/>
            <a:rect l="l" t="t" r="r" b="b"/>
            <a:pathLst>
              <a:path w="4145426" h="1300906">
                <a:moveTo>
                  <a:pt x="0" y="0"/>
                </a:moveTo>
                <a:lnTo>
                  <a:pt x="4145426" y="0"/>
                </a:lnTo>
                <a:lnTo>
                  <a:pt x="414542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3701648" y="4069160"/>
            <a:ext cx="1742668" cy="820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484" b="1" spc="-109">
                <a:solidFill>
                  <a:srgbClr val="F8F8F8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~200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57195" y="5501764"/>
            <a:ext cx="3075476" cy="1204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sprawdzonych innowacji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ROPS rozproszonych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 raportach.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50048" y="8302760"/>
            <a:ext cx="14787904" cy="1782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671" b="1" spc="-73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Problem nie leży w braku rozwiązań,</a:t>
            </a:r>
          </a:p>
          <a:p>
            <a:pPr algn="ctr">
              <a:lnSpc>
                <a:spcPts val="4769"/>
              </a:lnSpc>
            </a:pPr>
            <a:r>
              <a:rPr lang="en-US" sz="3671" b="1" spc="-73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tylko w ich </a:t>
            </a:r>
            <a:r>
              <a:rPr lang="en-US" sz="3671" b="1" spc="-73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znalezieniu </a:t>
            </a:r>
            <a:r>
              <a:rPr lang="en-US" sz="3671" b="1" spc="-73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 wdrożeniu</a:t>
            </a:r>
            <a:r>
              <a:rPr lang="en-US" sz="3671" b="1" spc="-73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.</a:t>
            </a:r>
          </a:p>
          <a:p>
            <a:pPr algn="ctr">
              <a:lnSpc>
                <a:spcPts val="4772"/>
              </a:lnSpc>
            </a:pPr>
            <a:r>
              <a:rPr lang="en-US" sz="3671" b="1" spc="-73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Pomożemy im nie ginąć na karteczkach w biurze.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084667" y="559587"/>
            <a:ext cx="7402147" cy="2758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8" b="1" spc="-138">
                <a:solidFill>
                  <a:srgbClr val="1A193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Jedno pole.</a:t>
            </a:r>
          </a:p>
          <a:p>
            <a:pPr algn="ctr">
              <a:lnSpc>
                <a:spcPts val="7284"/>
              </a:lnSpc>
            </a:pPr>
            <a:r>
              <a:rPr lang="en-US" sz="6938" b="1" spc="-138">
                <a:solidFill>
                  <a:srgbClr val="1A193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Trzy kroki.</a:t>
            </a:r>
          </a:p>
          <a:p>
            <a:pPr algn="ctr">
              <a:lnSpc>
                <a:spcPts val="7284"/>
              </a:lnSpc>
            </a:pPr>
            <a:r>
              <a:rPr lang="en-US" sz="6938" b="1" spc="-138">
                <a:solidFill>
                  <a:srgbClr val="1A193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Zero formularzy.</a:t>
            </a:r>
          </a:p>
        </p:txBody>
      </p:sp>
      <p:sp>
        <p:nvSpPr>
          <p:cNvPr id="9" name="Freeform 9"/>
          <p:cNvSpPr/>
          <p:nvPr/>
        </p:nvSpPr>
        <p:spPr>
          <a:xfrm>
            <a:off x="6529866" y="3421712"/>
            <a:ext cx="5009512" cy="437279"/>
          </a:xfrm>
          <a:custGeom>
            <a:avLst/>
            <a:gdLst/>
            <a:ahLst/>
            <a:cxnLst/>
            <a:rect l="l" t="t" r="r" b="b"/>
            <a:pathLst>
              <a:path w="5009512" h="437279">
                <a:moveTo>
                  <a:pt x="0" y="0"/>
                </a:moveTo>
                <a:lnTo>
                  <a:pt x="5009512" y="0"/>
                </a:lnTo>
                <a:lnTo>
                  <a:pt x="5009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01598" y="4711687"/>
            <a:ext cx="4145426" cy="3651284"/>
          </a:xfrm>
          <a:custGeom>
            <a:avLst/>
            <a:gdLst/>
            <a:ahLst/>
            <a:cxnLst/>
            <a:rect l="l" t="t" r="r" b="b"/>
            <a:pathLst>
              <a:path w="4145426" h="3651284">
                <a:moveTo>
                  <a:pt x="0" y="0"/>
                </a:moveTo>
                <a:lnTo>
                  <a:pt x="4145426" y="0"/>
                </a:lnTo>
                <a:lnTo>
                  <a:pt x="414542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603196" y="3848060"/>
            <a:ext cx="1542230" cy="1519546"/>
          </a:xfrm>
          <a:custGeom>
            <a:avLst/>
            <a:gdLst/>
            <a:ahLst/>
            <a:cxnLst/>
            <a:rect l="l" t="t" r="r" b="b"/>
            <a:pathLst>
              <a:path w="1542230" h="1519546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809560" y="5427335"/>
            <a:ext cx="1249059" cy="67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3440" b="1" spc="-68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Opisz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1598" y="6271443"/>
            <a:ext cx="2784984" cy="153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Mieszkaniec, senior,</a:t>
            </a:r>
          </a:p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NGO lub urzędnik pisze własnymi słowami.</a:t>
            </a:r>
          </a:p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Asystent dopytuje.</a:t>
            </a:r>
          </a:p>
        </p:txBody>
      </p:sp>
      <p:sp>
        <p:nvSpPr>
          <p:cNvPr id="14" name="Freeform 14"/>
          <p:cNvSpPr/>
          <p:nvPr/>
        </p:nvSpPr>
        <p:spPr>
          <a:xfrm>
            <a:off x="6956440" y="4711687"/>
            <a:ext cx="4156364" cy="3651284"/>
          </a:xfrm>
          <a:custGeom>
            <a:avLst/>
            <a:gdLst/>
            <a:ahLst/>
            <a:cxnLst/>
            <a:rect l="l" t="t" r="r" b="b"/>
            <a:pathLst>
              <a:path w="4156364" h="3651284">
                <a:moveTo>
                  <a:pt x="0" y="0"/>
                </a:moveTo>
                <a:lnTo>
                  <a:pt x="4156364" y="0"/>
                </a:lnTo>
                <a:lnTo>
                  <a:pt x="415636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268976" y="3848060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856087" y="3823359"/>
            <a:ext cx="476529" cy="124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0"/>
              </a:lnSpc>
            </a:pPr>
            <a:r>
              <a:rPr lang="en-US" sz="6246" b="1" spc="-125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22877" y="5427335"/>
            <a:ext cx="1820253" cy="67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3440" b="1" spc="-68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Dopasuj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13558" y="6271443"/>
            <a:ext cx="2638893" cy="153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RAG przeszukuje bazę zweryfikowanych</a:t>
            </a:r>
          </a:p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innowacji i pokazuje</a:t>
            </a:r>
          </a:p>
          <a:p>
            <a:pPr algn="ctr">
              <a:lnSpc>
                <a:spcPts val="3167"/>
              </a:lnSpc>
            </a:pPr>
            <a:r>
              <a:rPr lang="en-US" sz="1863" spc="-37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źródła.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622220" y="4711687"/>
            <a:ext cx="4145426" cy="3651284"/>
          </a:xfrm>
          <a:custGeom>
            <a:avLst/>
            <a:gdLst/>
            <a:ahLst/>
            <a:cxnLst/>
            <a:rect l="l" t="t" r="r" b="b"/>
            <a:pathLst>
              <a:path w="4145426" h="3651284">
                <a:moveTo>
                  <a:pt x="0" y="0"/>
                </a:moveTo>
                <a:lnTo>
                  <a:pt x="4145426" y="0"/>
                </a:lnTo>
                <a:lnTo>
                  <a:pt x="414542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923818" y="3848060"/>
            <a:ext cx="1542230" cy="1519546"/>
          </a:xfrm>
          <a:custGeom>
            <a:avLst/>
            <a:gdLst/>
            <a:ahLst/>
            <a:cxnLst/>
            <a:rect l="l" t="t" r="r" b="b"/>
            <a:pathLst>
              <a:path w="1542230" h="1519546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4536183" y="3823359"/>
            <a:ext cx="474899" cy="124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0"/>
              </a:lnSpc>
            </a:pPr>
            <a:r>
              <a:rPr lang="en-US" sz="6246" b="1" spc="-125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39239" y="5427335"/>
            <a:ext cx="1495730" cy="67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3440" b="1" spc="-68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Wdróż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43237" y="6261245"/>
            <a:ext cx="2687733" cy="1204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Middleman AI układa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plan pilotażu na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A1936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zasoby gminy.</a:t>
            </a:r>
          </a:p>
        </p:txBody>
      </p:sp>
      <p:sp>
        <p:nvSpPr>
          <p:cNvPr id="24" name="Freeform 24"/>
          <p:cNvSpPr/>
          <p:nvPr/>
        </p:nvSpPr>
        <p:spPr>
          <a:xfrm>
            <a:off x="5436086" y="5564382"/>
            <a:ext cx="1531292" cy="655919"/>
          </a:xfrm>
          <a:custGeom>
            <a:avLst/>
            <a:gdLst/>
            <a:ahLst/>
            <a:cxnLst/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1101866" y="5564382"/>
            <a:ext cx="1531292" cy="655919"/>
          </a:xfrm>
          <a:custGeom>
            <a:avLst/>
            <a:gdLst/>
            <a:ahLst/>
            <a:cxnLst/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3312251" y="3823359"/>
            <a:ext cx="312793" cy="1246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20"/>
              </a:lnSpc>
            </a:pPr>
            <a:r>
              <a:rPr lang="en-US" sz="6246" b="1" spc="-125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639244" y="2776725"/>
            <a:ext cx="5009512" cy="437279"/>
          </a:xfrm>
          <a:custGeom>
            <a:avLst/>
            <a:gdLst/>
            <a:ahLst/>
            <a:cxnLst/>
            <a:rect l="l" t="t" r="r" b="b"/>
            <a:pathLst>
              <a:path w="5009512" h="437279">
                <a:moveTo>
                  <a:pt x="0" y="0"/>
                </a:moveTo>
                <a:lnTo>
                  <a:pt x="5009512" y="0"/>
                </a:lnTo>
                <a:lnTo>
                  <a:pt x="5009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1348989" y="5688267"/>
            <a:ext cx="2140169" cy="214016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00E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0500" y="104775"/>
              <a:ext cx="431800" cy="517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6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337814" y="3585479"/>
            <a:ext cx="3086100" cy="2941439"/>
            <a:chOff x="0" y="0"/>
            <a:chExt cx="812800" cy="774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74700"/>
            </a:xfrm>
            <a:custGeom>
              <a:avLst/>
              <a:gdLst/>
              <a:ahLst/>
              <a:cxnLst/>
              <a:rect l="l" t="t" r="r" b="b"/>
              <a:pathLst>
                <a:path w="812800" h="7747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00E8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8600" y="180975"/>
              <a:ext cx="355600" cy="428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6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381500" y="3695700"/>
            <a:ext cx="9525000" cy="154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7"/>
              </a:lnSpc>
              <a:spcBef>
                <a:spcPct val="0"/>
              </a:spcBef>
            </a:pPr>
            <a:r>
              <a:rPr lang="en-US" sz="4950" spc="-99">
                <a:solidFill>
                  <a:srgbClr val="8F1EAE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Koszt obsługi jednego obywatela:</a:t>
            </a:r>
            <a:r>
              <a:rPr lang="en-US" sz="4950" spc="-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</a:t>
            </a:r>
            <a:r>
              <a:rPr lang="en-US" sz="4950" spc="-99">
                <a:solidFill>
                  <a:srgbClr val="14AB6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~ 2 gr / mies.</a:t>
            </a:r>
            <a:r>
              <a:rPr lang="en-US" sz="4950" spc="-99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42926" y="513103"/>
            <a:ext cx="7402147" cy="1848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8" b="1" spc="-138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Koszt Utrzymania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18647" y="6360472"/>
            <a:ext cx="12650707" cy="289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6"/>
              </a:lnSpc>
            </a:pPr>
            <a:r>
              <a:rPr lang="en-US" sz="3800" spc="-76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Przy powyższym cenniku koszt obsługi całego wojewodztwa Małopolskiego</a:t>
            </a:r>
          </a:p>
          <a:p>
            <a:pPr algn="ctr">
              <a:lnSpc>
                <a:spcPts val="5066"/>
              </a:lnSpc>
            </a:pPr>
            <a:r>
              <a:rPr lang="en-US" sz="3900" spc="-78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(~ 3 500 000 obywateli) wynosi</a:t>
            </a:r>
          </a:p>
          <a:p>
            <a:pPr algn="ctr">
              <a:lnSpc>
                <a:spcPts val="8318"/>
              </a:lnSpc>
            </a:pPr>
            <a:r>
              <a:rPr lang="en-US" sz="6399" spc="-128">
                <a:solidFill>
                  <a:srgbClr val="14AB6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~70 000 PLN / mies.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6035" y="677560"/>
            <a:ext cx="12175931" cy="6848961"/>
          </a:xfrm>
          <a:custGeom>
            <a:avLst/>
            <a:gdLst/>
            <a:ahLst/>
            <a:cxnLst/>
            <a:rect l="l" t="t" r="r" b="b"/>
            <a:pathLst>
              <a:path w="12175931" h="6848961">
                <a:moveTo>
                  <a:pt x="0" y="0"/>
                </a:moveTo>
                <a:lnTo>
                  <a:pt x="12175930" y="0"/>
                </a:lnTo>
                <a:lnTo>
                  <a:pt x="12175930" y="6848961"/>
                </a:lnTo>
                <a:lnTo>
                  <a:pt x="0" y="6848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" r="-12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39637" y="7973039"/>
            <a:ext cx="15244012" cy="987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76"/>
              </a:lnSpc>
            </a:pPr>
            <a:r>
              <a:rPr lang="en-US" sz="5769" b="1">
                <a:solidFill>
                  <a:srgbClr val="FFF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WCAG  -  Dostępność dla każdego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404136" y="5859477"/>
            <a:ext cx="5009512" cy="437279"/>
          </a:xfrm>
          <a:custGeom>
            <a:avLst/>
            <a:gdLst/>
            <a:ahLst/>
            <a:cxnLst/>
            <a:rect l="l" t="t" r="r" b="b"/>
            <a:pathLst>
              <a:path w="5009512" h="437279">
                <a:moveTo>
                  <a:pt x="0" y="0"/>
                </a:moveTo>
                <a:lnTo>
                  <a:pt x="5009512" y="0"/>
                </a:lnTo>
                <a:lnTo>
                  <a:pt x="5009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7818" y="2114383"/>
            <a:ext cx="7402147" cy="372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sz="6938" b="1" spc="-138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Szybkie i rzeczywiste rozwiązania dla </a:t>
            </a:r>
            <a:r>
              <a:rPr lang="en-US" sz="6938" b="1" spc="-138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mieszkańców</a:t>
            </a:r>
          </a:p>
        </p:txBody>
      </p:sp>
      <p:sp>
        <p:nvSpPr>
          <p:cNvPr id="9" name="Freeform 9" descr="Zrzut ekranu czatu hubmi: pracownik MOPS z Nowej Huty opisuje 30 seniorów, asystent proponuje pierwsze kroki i pokazuje kartę Rozwiązanie z bazy: Mobilne centrum pomocy dla osób starszych z pakietem do wdrożenia i przyciskiem Zgłoś się do testowania"/>
          <p:cNvSpPr/>
          <p:nvPr/>
        </p:nvSpPr>
        <p:spPr>
          <a:xfrm>
            <a:off x="9129972" y="1071335"/>
            <a:ext cx="6679338" cy="8186965"/>
          </a:xfrm>
          <a:custGeom>
            <a:avLst/>
            <a:gdLst/>
            <a:ahLst/>
            <a:cxnLst/>
            <a:rect l="l" t="t" r="r" b="b"/>
            <a:pathLst>
              <a:path w="6679338" h="8186965">
                <a:moveTo>
                  <a:pt x="0" y="0"/>
                </a:moveTo>
                <a:lnTo>
                  <a:pt x="6679338" y="0"/>
                </a:lnTo>
                <a:lnTo>
                  <a:pt x="6679338" y="8186965"/>
                </a:lnTo>
                <a:lnTo>
                  <a:pt x="0" y="8186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16" t="-1670" r="-1616" b="-167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1103482" y="4996350"/>
            <a:ext cx="4477050" cy="294301"/>
          </a:xfrm>
          <a:custGeom>
            <a:avLst/>
            <a:gdLst/>
            <a:ahLst/>
            <a:cxnLst/>
            <a:rect l="l" t="t" r="r" b="b"/>
            <a:pathLst>
              <a:path w="4477050" h="294301">
                <a:moveTo>
                  <a:pt x="0" y="0"/>
                </a:moveTo>
                <a:lnTo>
                  <a:pt x="4477050" y="0"/>
                </a:lnTo>
                <a:lnTo>
                  <a:pt x="4477050" y="294300"/>
                </a:lnTo>
                <a:lnTo>
                  <a:pt x="0" y="2943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394" b="-163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09773" y="535604"/>
            <a:ext cx="8249699" cy="113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0"/>
              </a:lnSpc>
            </a:pPr>
            <a:r>
              <a:rPr lang="en-US" sz="4239" b="1" spc="-84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Pomocne dane dla </a:t>
            </a:r>
            <a:r>
              <a:rPr lang="en-US" sz="4239" b="1" spc="-84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administratorów i firm </a:t>
            </a:r>
          </a:p>
        </p:txBody>
      </p:sp>
      <p:sp>
        <p:nvSpPr>
          <p:cNvPr id="9" name="Freeform 9" descr="Zrzut ekranu panelu instytucji: mapa potrzeb społecznych Małopolski, 22 powiaty, 149 wskaźników, menu: Mapa potrzeb, Zgłoszenia, Inicjatywy, Nabory, Raporty"/>
          <p:cNvSpPr/>
          <p:nvPr/>
        </p:nvSpPr>
        <p:spPr>
          <a:xfrm>
            <a:off x="3886200" y="2190750"/>
            <a:ext cx="10515600" cy="6572250"/>
          </a:xfrm>
          <a:custGeom>
            <a:avLst/>
            <a:gdLst/>
            <a:ahLst/>
            <a:cxnLst/>
            <a:rect l="l" t="t" r="r" b="b"/>
            <a:pathLst>
              <a:path w="10515600" h="6572250">
                <a:moveTo>
                  <a:pt x="0" y="0"/>
                </a:moveTo>
                <a:lnTo>
                  <a:pt x="10515600" y="0"/>
                </a:lnTo>
                <a:lnTo>
                  <a:pt x="10515600" y="6572250"/>
                </a:lnTo>
                <a:lnTo>
                  <a:pt x="0" y="6572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0000"/>
          </a:blip>
          <a:srcRect/>
          <a:stretch>
            <a:fillRect/>
          </a:stretch>
        </p:blipFill>
        <p:spPr>
          <a:xfrm>
            <a:off x="9006003" y="1063684"/>
            <a:ext cx="8229600" cy="82296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0800983" y="5763025"/>
            <a:ext cx="4639640" cy="437279"/>
          </a:xfrm>
          <a:custGeom>
            <a:avLst/>
            <a:gdLst/>
            <a:ahLst/>
            <a:cxnLst/>
            <a:rect l="l" t="t" r="r" b="b"/>
            <a:pathLst>
              <a:path w="4639640" h="437279">
                <a:moveTo>
                  <a:pt x="0" y="0"/>
                </a:moveTo>
                <a:lnTo>
                  <a:pt x="4639639" y="0"/>
                </a:lnTo>
                <a:lnTo>
                  <a:pt x="4639639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719" t="-9607" b="-96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50048" y="1934962"/>
            <a:ext cx="7797783" cy="6487045"/>
          </a:xfrm>
          <a:custGeom>
            <a:avLst/>
            <a:gdLst/>
            <a:ahLst/>
            <a:cxnLst/>
            <a:rect l="l" t="t" r="r" b="b"/>
            <a:pathLst>
              <a:path w="7797783" h="6487045">
                <a:moveTo>
                  <a:pt x="0" y="0"/>
                </a:moveTo>
                <a:lnTo>
                  <a:pt x="7797783" y="0"/>
                </a:lnTo>
                <a:lnTo>
                  <a:pt x="7797783" y="6487044"/>
                </a:lnTo>
                <a:lnTo>
                  <a:pt x="0" y="64870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801225" y="2266950"/>
            <a:ext cx="6966421" cy="2169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8"/>
              </a:lnSpc>
            </a:pPr>
            <a:r>
              <a:rPr lang="en-US" sz="5400" b="1" spc="-108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Agregujemy dane GUS i ROPS, oraz zbieramy własne!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1339" y="6642303"/>
            <a:ext cx="6177857" cy="178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719" spc="-54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AI samo </a:t>
            </a:r>
            <a:r>
              <a:rPr lang="en-US" sz="2719" spc="-54">
                <a:solidFill>
                  <a:srgbClr val="17B26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zbiera raporty</a:t>
            </a:r>
            <a:r>
              <a:rPr lang="en-US" sz="2719" spc="-54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2719" spc="-54">
                <a:solidFill>
                  <a:srgbClr val="17B26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formułuje </a:t>
            </a:r>
            <a:r>
              <a:rPr lang="en-US" sz="2719" spc="-54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je a następnie </a:t>
            </a:r>
            <a:r>
              <a:rPr lang="en-US" sz="2719" spc="-54">
                <a:solidFill>
                  <a:srgbClr val="17B26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decyduje </a:t>
            </a:r>
            <a:r>
              <a:rPr lang="en-US" sz="2719" spc="-54">
                <a:solidFill>
                  <a:srgbClr val="DE0F6D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gdzie należą z minimalnym wkładem zainteresowanego </a:t>
            </a:r>
            <a:r>
              <a:rPr lang="en-US" sz="2719" spc="-54">
                <a:solidFill>
                  <a:srgbClr val="17B26C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mieszkańca.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756708" y="2776725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3465361" y="3000830"/>
            <a:ext cx="4639640" cy="437279"/>
          </a:xfrm>
          <a:custGeom>
            <a:avLst/>
            <a:gdLst/>
            <a:ahLst/>
            <a:cxnLst/>
            <a:rect l="l" t="t" r="r" b="b"/>
            <a:pathLst>
              <a:path w="4639640" h="437279">
                <a:moveTo>
                  <a:pt x="0" y="0"/>
                </a:moveTo>
                <a:lnTo>
                  <a:pt x="4639640" y="0"/>
                </a:lnTo>
                <a:lnTo>
                  <a:pt x="463964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719" t="-9607" b="-96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18359" y="209837"/>
            <a:ext cx="7125641" cy="279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4"/>
              </a:lnSpc>
            </a:pPr>
            <a:r>
              <a:rPr lang="en-US" sz="5214" spc="-104">
                <a:solidFill>
                  <a:srgbClr val="00000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Wielomodułowość, rozwiązaniem wielu problemów jednocześnie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0250" y="3867150"/>
            <a:ext cx="14859000" cy="3418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Matchmaking – czat podsuwa innowacje ROPS, panel łączy je ze zgłoszeniami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Zasobnik wiedzy – 115 innowacji z PDF i pakietami, mapa 149 wskaźników, raporty AI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Kreator pomysłów – fiszka i kanwa pomysłu, generator wniosków w Naborach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Tester innowacji – „Zgłoś się do testowania” przy każdej innowacji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Panel administratora – zgłoszenia z oceną ryzyka, mapa, dopasowania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Middleman – asystent proponuje plan pilotażu dla małego zespołu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WCAG 2.1 AA – kontrast, rozmiar tekstu, obsługa czytników ekranu</a:t>
            </a:r>
          </a:p>
          <a:p>
            <a:pPr marL="550545" lvl="1" indent="-275272" algn="l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550" b="1" u="none" strike="noStrike" spc="-51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 planach: komunikacja ROPS ↔ mieszkaniec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7818" y="207708"/>
            <a:ext cx="1542230" cy="1727254"/>
          </a:xfrm>
          <a:custGeom>
            <a:avLst/>
            <a:gdLst/>
            <a:ahLst/>
            <a:cxnLst/>
            <a:rect l="l" t="t" r="r" b="b"/>
            <a:pathLst>
              <a:path w="1542230" h="1727254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6319196" y="207708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335500" y="609600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7062064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455110" y="7062064"/>
            <a:ext cx="2625072" cy="3224936"/>
          </a:xfrm>
          <a:custGeom>
            <a:avLst/>
            <a:gdLst/>
            <a:ahLst/>
            <a:cxnLst/>
            <a:rect l="l" t="t" r="r" b="b"/>
            <a:pathLst>
              <a:path w="2625072" h="3224936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-567374" y="4948874"/>
            <a:ext cx="4477050" cy="294301"/>
          </a:xfrm>
          <a:custGeom>
            <a:avLst/>
            <a:gdLst/>
            <a:ahLst/>
            <a:cxnLst/>
            <a:rect l="l" t="t" r="r" b="b"/>
            <a:pathLst>
              <a:path w="4477050" h="294301">
                <a:moveTo>
                  <a:pt x="0" y="0"/>
                </a:moveTo>
                <a:lnTo>
                  <a:pt x="4477049" y="0"/>
                </a:lnTo>
                <a:lnTo>
                  <a:pt x="4477049" y="294301"/>
                </a:lnTo>
                <a:lnTo>
                  <a:pt x="0" y="294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394" b="-163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952750" y="733425"/>
            <a:ext cx="12382500" cy="576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50"/>
              </a:lnSpc>
              <a:spcBef>
                <a:spcPct val="0"/>
              </a:spcBef>
            </a:pPr>
            <a:r>
              <a:rPr lang="en-US" sz="4239" b="1" u="none" strike="noStrike" spc="-84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Panel ROPS: ocena ryzyka i nabory</a:t>
            </a:r>
          </a:p>
        </p:txBody>
      </p:sp>
      <p:sp>
        <p:nvSpPr>
          <p:cNvPr id="9" name="Freeform 9" descr="Zrzut ekranu panelu: lista 21 zgłoszeń z kolumną ryzyka, 3 zgłoszenia o ryzyku krytycznym"/>
          <p:cNvSpPr/>
          <p:nvPr/>
        </p:nvSpPr>
        <p:spPr>
          <a:xfrm>
            <a:off x="2190750" y="1905000"/>
            <a:ext cx="8763000" cy="6515100"/>
          </a:xfrm>
          <a:custGeom>
            <a:avLst/>
            <a:gdLst/>
            <a:ahLst/>
            <a:cxnLst/>
            <a:rect l="l" t="t" r="r" b="b"/>
            <a:pathLst>
              <a:path w="8763000" h="6515100">
                <a:moveTo>
                  <a:pt x="0" y="0"/>
                </a:moveTo>
                <a:lnTo>
                  <a:pt x="8763000" y="0"/>
                </a:lnTo>
                <a:lnTo>
                  <a:pt x="8763000" y="6515100"/>
                </a:lnTo>
                <a:lnTo>
                  <a:pt x="0" y="6515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8" b="-1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 descr="Zrzut ekranu zakładki Nabory: trwający nabór Małopolskie Mikrogranty Społeczne 2026, do 10 000 zł, asystent pisze wniosek z kanwy pomysłu"/>
          <p:cNvSpPr/>
          <p:nvPr/>
        </p:nvSpPr>
        <p:spPr>
          <a:xfrm>
            <a:off x="11430000" y="2476500"/>
            <a:ext cx="5334000" cy="5114925"/>
          </a:xfrm>
          <a:custGeom>
            <a:avLst/>
            <a:gdLst/>
            <a:ahLst/>
            <a:cxnLst/>
            <a:rect l="l" t="t" r="r" b="b"/>
            <a:pathLst>
              <a:path w="5334000" h="5114925">
                <a:moveTo>
                  <a:pt x="0" y="0"/>
                </a:moveTo>
                <a:lnTo>
                  <a:pt x="5334000" y="0"/>
                </a:lnTo>
                <a:lnTo>
                  <a:pt x="5334000" y="5114925"/>
                </a:lnTo>
                <a:lnTo>
                  <a:pt x="0" y="51149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4" r="-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190750" y="8562975"/>
            <a:ext cx="87630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DE0F6D"/>
                </a:solidFill>
                <a:latin typeface="Arimo Bold"/>
                <a:ea typeface="Arimo Bold"/>
                <a:cs typeface="Arimo Bold"/>
                <a:sym typeface="Arimo Bold"/>
              </a:rPr>
              <a:t>Zgłoszenia z oceną ryzyka i uzasadnieniem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30000" y="7715250"/>
            <a:ext cx="5334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17B26C"/>
                </a:solidFill>
                <a:latin typeface="Arimo Bold"/>
                <a:ea typeface="Arimo Bold"/>
                <a:cs typeface="Arimo Bold"/>
                <a:sym typeface="Arimo Bold"/>
              </a:rPr>
              <a:t>Nabory: asystent pisze wniosek z kanwy pomysłu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337</Words>
  <Application>Microsoft Office PowerPoint</Application>
  <PresentationFormat>Niestandardowy</PresentationFormat>
  <Paragraphs>64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8" baseType="lpstr">
      <vt:lpstr>Montaser Arabic Medium</vt:lpstr>
      <vt:lpstr>Calibri</vt:lpstr>
      <vt:lpstr>Montaser Arabic</vt:lpstr>
      <vt:lpstr>Arial</vt:lpstr>
      <vt:lpstr>Arimo Bold</vt:lpstr>
      <vt:lpstr>Montaser Arabic Bold</vt:lpstr>
      <vt:lpstr>Canva Sans Bold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Hubmi dla Krakowa</dc:title>
  <cp:lastModifiedBy>Paweł Dutkiewicz</cp:lastModifiedBy>
  <cp:revision>2</cp:revision>
  <dcterms:created xsi:type="dcterms:W3CDTF">2006-08-16T00:00:00Z</dcterms:created>
  <dcterms:modified xsi:type="dcterms:W3CDTF">2026-10-04T08:11:24Z</dcterms:modified>
  <dc:identifier>DAHXBtoId6U</dc:identifier>
</cp:coreProperties>
</file>